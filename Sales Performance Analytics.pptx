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GB"/>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4250718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1074478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2179817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256C80D-09B4-4831-8583-4404DF3D8011}" type="datetimeFigureOut">
              <a:rPr lang="en-IN" smtClean="0"/>
              <a:t>11-07-2026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1057560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256C80D-09B4-4831-8583-4404DF3D8011}" type="datetimeFigureOut">
              <a:rPr lang="en-IN" smtClean="0"/>
              <a:t>11-07-2026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645371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256C80D-09B4-4831-8583-4404DF3D8011}" type="datetimeFigureOut">
              <a:rPr lang="en-IN" smtClean="0"/>
              <a:t>11-07-2026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543557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56C80D-09B4-4831-8583-4404DF3D8011}" type="datetimeFigureOut">
              <a:rPr lang="en-IN" smtClean="0"/>
              <a:t>11-07-2026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160164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256C80D-09B4-4831-8583-4404DF3D8011}" type="datetimeFigureOut">
              <a:rPr lang="en-IN" smtClean="0"/>
              <a:t>11-07-2026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925627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256C80D-09B4-4831-8583-4404DF3D8011}" type="datetimeFigureOut">
              <a:rPr lang="en-IN" smtClean="0"/>
              <a:t>11-07-2026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2506408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256C80D-09B4-4831-8583-4404DF3D8011}" type="datetimeFigureOut">
              <a:rPr lang="en-IN" smtClean="0"/>
              <a:t>11-07-2026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687664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1943783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247287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368423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864531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365608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6000707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256C80D-09B4-4831-8583-4404DF3D8011}" type="datetimeFigureOut">
              <a:rPr lang="en-IN" smtClean="0"/>
              <a:t>11-07-2026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6280CF-6629-4E07-832E-02C3DC4F9633}" type="slidenum">
              <a:rPr lang="en-IN" smtClean="0"/>
              <a:t>‹#›</a:t>
            </a:fld>
            <a:endParaRPr lang="en-IN"/>
          </a:p>
        </p:txBody>
      </p:sp>
    </p:spTree>
    <p:extLst>
      <p:ext uri="{BB962C8B-B14F-4D97-AF65-F5344CB8AC3E}">
        <p14:creationId xmlns:p14="http://schemas.microsoft.com/office/powerpoint/2010/main" val="3085310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256C80D-09B4-4831-8583-4404DF3D8011}" type="datetimeFigureOut">
              <a:rPr lang="en-IN" smtClean="0"/>
              <a:t>11-07-2026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6280CF-6629-4E07-832E-02C3DC4F9633}" type="slidenum">
              <a:rPr lang="en-IN" smtClean="0"/>
              <a:t>‹#›</a:t>
            </a:fld>
            <a:endParaRPr lang="en-IN"/>
          </a:p>
        </p:txBody>
      </p:sp>
    </p:spTree>
    <p:extLst>
      <p:ext uri="{BB962C8B-B14F-4D97-AF65-F5344CB8AC3E}">
        <p14:creationId xmlns:p14="http://schemas.microsoft.com/office/powerpoint/2010/main" val="21545169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40EC5-CD76-436C-A068-0D5742D0C1FE}"/>
              </a:ext>
            </a:extLst>
          </p:cNvPr>
          <p:cNvSpPr>
            <a:spLocks noGrp="1"/>
          </p:cNvSpPr>
          <p:nvPr>
            <p:ph type="ctrTitle"/>
          </p:nvPr>
        </p:nvSpPr>
        <p:spPr>
          <a:xfrm>
            <a:off x="3415328" y="2505759"/>
            <a:ext cx="8574622" cy="2616199"/>
          </a:xfrm>
        </p:spPr>
        <p:txBody>
          <a:bodyPr/>
          <a:lstStyle/>
          <a:p>
            <a:r>
              <a:rPr lang="en-US" dirty="0"/>
              <a:t>Sales Performance Analytics</a:t>
            </a:r>
            <a:endParaRPr lang="en-IN" dirty="0"/>
          </a:p>
        </p:txBody>
      </p:sp>
      <p:sp>
        <p:nvSpPr>
          <p:cNvPr id="3" name="Subtitle 2">
            <a:extLst>
              <a:ext uri="{FF2B5EF4-FFF2-40B4-BE49-F238E27FC236}">
                <a16:creationId xmlns:a16="http://schemas.microsoft.com/office/drawing/2014/main" id="{AC6B35FD-1CF8-4EA7-8D6A-42F33E805491}"/>
              </a:ext>
            </a:extLst>
          </p:cNvPr>
          <p:cNvSpPr>
            <a:spLocks noGrp="1"/>
          </p:cNvSpPr>
          <p:nvPr>
            <p:ph type="subTitle" idx="1"/>
          </p:nvPr>
        </p:nvSpPr>
        <p:spPr>
          <a:xfrm>
            <a:off x="5002305" y="5229535"/>
            <a:ext cx="6987645" cy="1388534"/>
          </a:xfrm>
        </p:spPr>
        <p:txBody>
          <a:bodyPr>
            <a:normAutofit/>
          </a:bodyPr>
          <a:lstStyle/>
          <a:p>
            <a:r>
              <a:rPr lang="en-US" sz="1600" dirty="0"/>
              <a:t>Presented by : Nikhil </a:t>
            </a:r>
            <a:r>
              <a:rPr lang="en-US" sz="1600" dirty="0" err="1"/>
              <a:t>Dutt</a:t>
            </a:r>
            <a:r>
              <a:rPr lang="en-US" sz="1600" dirty="0"/>
              <a:t>  </a:t>
            </a:r>
            <a:r>
              <a:rPr lang="en-US" sz="1600" dirty="0" err="1"/>
              <a:t>Anuchuri</a:t>
            </a:r>
            <a:endParaRPr lang="en-US" sz="1600" dirty="0"/>
          </a:p>
          <a:p>
            <a:r>
              <a:rPr lang="en-US" sz="1600" dirty="0"/>
              <a:t>Role :Aspiring data analyst</a:t>
            </a:r>
          </a:p>
          <a:p>
            <a:r>
              <a:rPr lang="en-US" sz="1600" dirty="0"/>
              <a:t>Tools: Excel, SQL, </a:t>
            </a:r>
            <a:r>
              <a:rPr lang="en-US" sz="1600" dirty="0" err="1"/>
              <a:t>Python,Powerbi</a:t>
            </a:r>
            <a:endParaRPr lang="en-US" sz="1600" dirty="0"/>
          </a:p>
          <a:p>
            <a:endParaRPr lang="en-IN" dirty="0"/>
          </a:p>
        </p:txBody>
      </p:sp>
      <p:pic>
        <p:nvPicPr>
          <p:cNvPr id="7" name="Picture 6">
            <a:extLst>
              <a:ext uri="{FF2B5EF4-FFF2-40B4-BE49-F238E27FC236}">
                <a16:creationId xmlns:a16="http://schemas.microsoft.com/office/drawing/2014/main" id="{7DA13205-7D3A-4807-84C8-F7705EC01569}"/>
              </a:ext>
            </a:extLst>
          </p:cNvPr>
          <p:cNvPicPr>
            <a:picLocks noChangeAspect="1"/>
          </p:cNvPicPr>
          <p:nvPr/>
        </p:nvPicPr>
        <p:blipFill>
          <a:blip r:embed="rId2"/>
          <a:stretch>
            <a:fillRect/>
          </a:stretch>
        </p:blipFill>
        <p:spPr>
          <a:xfrm>
            <a:off x="6178281" y="0"/>
            <a:ext cx="6013719" cy="3381853"/>
          </a:xfrm>
          <a:prstGeom prst="rect">
            <a:avLst/>
          </a:prstGeom>
        </p:spPr>
      </p:pic>
    </p:spTree>
    <p:extLst>
      <p:ext uri="{BB962C8B-B14F-4D97-AF65-F5344CB8AC3E}">
        <p14:creationId xmlns:p14="http://schemas.microsoft.com/office/powerpoint/2010/main" val="347759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A258-D110-44B1-8035-228FBD5E949F}"/>
              </a:ext>
            </a:extLst>
          </p:cNvPr>
          <p:cNvSpPr>
            <a:spLocks noGrp="1"/>
          </p:cNvSpPr>
          <p:nvPr>
            <p:ph type="title"/>
          </p:nvPr>
        </p:nvSpPr>
        <p:spPr>
          <a:xfrm>
            <a:off x="1484310" y="273424"/>
            <a:ext cx="6180514" cy="703729"/>
          </a:xfrm>
        </p:spPr>
        <p:txBody>
          <a:bodyPr/>
          <a:lstStyle/>
          <a:p>
            <a:pPr algn="l"/>
            <a:r>
              <a:rPr lang="en-US" dirty="0"/>
              <a:t>Business Problem</a:t>
            </a:r>
            <a:endParaRPr lang="en-IN" dirty="0"/>
          </a:p>
        </p:txBody>
      </p:sp>
      <p:sp>
        <p:nvSpPr>
          <p:cNvPr id="3" name="Content Placeholder 2">
            <a:extLst>
              <a:ext uri="{FF2B5EF4-FFF2-40B4-BE49-F238E27FC236}">
                <a16:creationId xmlns:a16="http://schemas.microsoft.com/office/drawing/2014/main" id="{7EDA0ACE-70A7-41D1-9D2F-CDD36E39E7F4}"/>
              </a:ext>
            </a:extLst>
          </p:cNvPr>
          <p:cNvSpPr>
            <a:spLocks noGrp="1"/>
          </p:cNvSpPr>
          <p:nvPr>
            <p:ph idx="1"/>
          </p:nvPr>
        </p:nvSpPr>
        <p:spPr>
          <a:xfrm>
            <a:off x="1484310" y="977154"/>
            <a:ext cx="10017408" cy="4509246"/>
          </a:xfrm>
        </p:spPr>
        <p:style>
          <a:lnRef idx="2">
            <a:schemeClr val="accent1"/>
          </a:lnRef>
          <a:fillRef idx="1">
            <a:schemeClr val="lt1"/>
          </a:fillRef>
          <a:effectRef idx="0">
            <a:schemeClr val="accent1"/>
          </a:effectRef>
          <a:fontRef idx="minor">
            <a:schemeClr val="dk1"/>
          </a:fontRef>
        </p:style>
        <p:txBody>
          <a:bodyPr/>
          <a:lstStyle/>
          <a:p>
            <a:r>
              <a:rPr lang="en-US" dirty="0"/>
              <a:t>The company lacks a clear understanding of sales performance , customer behavior, and product trends</a:t>
            </a:r>
          </a:p>
          <a:p>
            <a:r>
              <a:rPr lang="en-US" b="1" dirty="0"/>
              <a:t>Objectives :</a:t>
            </a:r>
          </a:p>
          <a:p>
            <a:r>
              <a:rPr lang="en-US" sz="1600" dirty="0"/>
              <a:t>Analyze overall revenue.</a:t>
            </a:r>
          </a:p>
          <a:p>
            <a:r>
              <a:rPr lang="en-US" sz="1200" dirty="0"/>
              <a:t>- Identify Electronics (Top Category). </a:t>
            </a:r>
          </a:p>
          <a:p>
            <a:r>
              <a:rPr lang="en-US" sz="1200" dirty="0"/>
              <a:t>- Identify Patna &amp; Mumbai (Top Cities). </a:t>
            </a:r>
          </a:p>
          <a:p>
            <a:r>
              <a:rPr lang="en-US" sz="1200" dirty="0"/>
              <a:t>– Study monthly sales trends.</a:t>
            </a:r>
          </a:p>
          <a:p>
            <a:r>
              <a:rPr lang="en-US" sz="1200" dirty="0"/>
              <a:t> - Understand customer purchasing behavior.</a:t>
            </a:r>
          </a:p>
          <a:p>
            <a:r>
              <a:rPr lang="en-US" sz="1200" dirty="0"/>
              <a:t> - Build an interactive dashboard.</a:t>
            </a:r>
            <a:r>
              <a:rPr lang="en-US" sz="1600" dirty="0"/>
              <a:t>      </a:t>
            </a:r>
          </a:p>
          <a:p>
            <a:endParaRPr lang="en-IN" dirty="0"/>
          </a:p>
        </p:txBody>
      </p:sp>
      <p:pic>
        <p:nvPicPr>
          <p:cNvPr id="5" name="Picture 4">
            <a:extLst>
              <a:ext uri="{FF2B5EF4-FFF2-40B4-BE49-F238E27FC236}">
                <a16:creationId xmlns:a16="http://schemas.microsoft.com/office/drawing/2014/main" id="{BED4DD92-C096-4436-9A01-9DE8F86990BA}"/>
              </a:ext>
            </a:extLst>
          </p:cNvPr>
          <p:cNvPicPr>
            <a:picLocks noChangeAspect="1"/>
          </p:cNvPicPr>
          <p:nvPr/>
        </p:nvPicPr>
        <p:blipFill>
          <a:blip r:embed="rId2"/>
          <a:stretch>
            <a:fillRect/>
          </a:stretch>
        </p:blipFill>
        <p:spPr>
          <a:xfrm>
            <a:off x="6696569" y="2131101"/>
            <a:ext cx="1524132" cy="784928"/>
          </a:xfrm>
          <a:prstGeom prst="rect">
            <a:avLst/>
          </a:prstGeom>
        </p:spPr>
      </p:pic>
      <p:pic>
        <p:nvPicPr>
          <p:cNvPr id="7" name="Picture 6">
            <a:extLst>
              <a:ext uri="{FF2B5EF4-FFF2-40B4-BE49-F238E27FC236}">
                <a16:creationId xmlns:a16="http://schemas.microsoft.com/office/drawing/2014/main" id="{8F922CC3-A110-4811-9942-CE30792F60B5}"/>
              </a:ext>
            </a:extLst>
          </p:cNvPr>
          <p:cNvPicPr>
            <a:picLocks noChangeAspect="1"/>
          </p:cNvPicPr>
          <p:nvPr/>
        </p:nvPicPr>
        <p:blipFill>
          <a:blip r:embed="rId3"/>
          <a:stretch>
            <a:fillRect/>
          </a:stretch>
        </p:blipFill>
        <p:spPr>
          <a:xfrm>
            <a:off x="8476957" y="2131101"/>
            <a:ext cx="1585097" cy="845893"/>
          </a:xfrm>
          <a:prstGeom prst="rect">
            <a:avLst/>
          </a:prstGeom>
        </p:spPr>
      </p:pic>
      <p:pic>
        <p:nvPicPr>
          <p:cNvPr id="9" name="Picture 8">
            <a:extLst>
              <a:ext uri="{FF2B5EF4-FFF2-40B4-BE49-F238E27FC236}">
                <a16:creationId xmlns:a16="http://schemas.microsoft.com/office/drawing/2014/main" id="{C30EA288-F774-4314-B38B-8C4880E2DBB9}"/>
              </a:ext>
            </a:extLst>
          </p:cNvPr>
          <p:cNvPicPr>
            <a:picLocks noChangeAspect="1"/>
          </p:cNvPicPr>
          <p:nvPr/>
        </p:nvPicPr>
        <p:blipFill>
          <a:blip r:embed="rId4"/>
          <a:stretch>
            <a:fillRect/>
          </a:stretch>
        </p:blipFill>
        <p:spPr>
          <a:xfrm>
            <a:off x="6696569" y="3256804"/>
            <a:ext cx="1585097" cy="853514"/>
          </a:xfrm>
          <a:prstGeom prst="rect">
            <a:avLst/>
          </a:prstGeom>
        </p:spPr>
      </p:pic>
      <p:pic>
        <p:nvPicPr>
          <p:cNvPr id="11" name="Picture 10">
            <a:extLst>
              <a:ext uri="{FF2B5EF4-FFF2-40B4-BE49-F238E27FC236}">
                <a16:creationId xmlns:a16="http://schemas.microsoft.com/office/drawing/2014/main" id="{0E2DFB71-0C15-446A-9CBC-E6B44FAF3639}"/>
              </a:ext>
            </a:extLst>
          </p:cNvPr>
          <p:cNvPicPr>
            <a:picLocks noChangeAspect="1"/>
          </p:cNvPicPr>
          <p:nvPr/>
        </p:nvPicPr>
        <p:blipFill>
          <a:blip r:embed="rId5"/>
          <a:stretch>
            <a:fillRect/>
          </a:stretch>
        </p:blipFill>
        <p:spPr>
          <a:xfrm>
            <a:off x="8473146" y="3269807"/>
            <a:ext cx="1592718" cy="861135"/>
          </a:xfrm>
          <a:prstGeom prst="rect">
            <a:avLst/>
          </a:prstGeom>
        </p:spPr>
      </p:pic>
      <p:pic>
        <p:nvPicPr>
          <p:cNvPr id="13" name="Picture 12">
            <a:extLst>
              <a:ext uri="{FF2B5EF4-FFF2-40B4-BE49-F238E27FC236}">
                <a16:creationId xmlns:a16="http://schemas.microsoft.com/office/drawing/2014/main" id="{4C16AA82-F40E-4B8C-B98E-38CD8F4AF4D3}"/>
              </a:ext>
            </a:extLst>
          </p:cNvPr>
          <p:cNvPicPr>
            <a:picLocks noChangeAspect="1"/>
          </p:cNvPicPr>
          <p:nvPr/>
        </p:nvPicPr>
        <p:blipFill>
          <a:blip r:embed="rId6"/>
          <a:stretch>
            <a:fillRect/>
          </a:stretch>
        </p:blipFill>
        <p:spPr>
          <a:xfrm>
            <a:off x="6696569" y="4342166"/>
            <a:ext cx="1600339" cy="853514"/>
          </a:xfrm>
          <a:prstGeom prst="rect">
            <a:avLst/>
          </a:prstGeom>
        </p:spPr>
      </p:pic>
      <p:sp>
        <p:nvSpPr>
          <p:cNvPr id="4" name="TextBox 3">
            <a:extLst>
              <a:ext uri="{FF2B5EF4-FFF2-40B4-BE49-F238E27FC236}">
                <a16:creationId xmlns:a16="http://schemas.microsoft.com/office/drawing/2014/main" id="{F8200DA9-A509-4B65-BBCD-623CAA8A27DF}"/>
              </a:ext>
            </a:extLst>
          </p:cNvPr>
          <p:cNvSpPr txBox="1"/>
          <p:nvPr/>
        </p:nvSpPr>
        <p:spPr>
          <a:xfrm>
            <a:off x="1484310" y="5585012"/>
            <a:ext cx="10707690" cy="923330"/>
          </a:xfrm>
          <a:prstGeom prst="rect">
            <a:avLst/>
          </a:prstGeom>
          <a:noFill/>
        </p:spPr>
        <p:txBody>
          <a:bodyPr wrap="square" rtlCol="0">
            <a:spAutoFit/>
          </a:bodyPr>
          <a:lstStyle/>
          <a:p>
            <a:r>
              <a:rPr lang="en-US" dirty="0"/>
              <a:t>The company did not have a centralized view of sales performance. My objective was to analyze revenue, identify the best-performing categories and cities, understand customer behavior, and create a dashboard that supports decision-making</a:t>
            </a:r>
            <a:endParaRPr lang="en-IN" dirty="0"/>
          </a:p>
        </p:txBody>
      </p:sp>
    </p:spTree>
    <p:extLst>
      <p:ext uri="{BB962C8B-B14F-4D97-AF65-F5344CB8AC3E}">
        <p14:creationId xmlns:p14="http://schemas.microsoft.com/office/powerpoint/2010/main" val="2711694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6D36-799D-4078-BE00-C7E1B3B842F8}"/>
              </a:ext>
            </a:extLst>
          </p:cNvPr>
          <p:cNvSpPr>
            <a:spLocks noGrp="1"/>
          </p:cNvSpPr>
          <p:nvPr>
            <p:ph type="title"/>
          </p:nvPr>
        </p:nvSpPr>
        <p:spPr>
          <a:xfrm>
            <a:off x="1645675" y="-1"/>
            <a:ext cx="3500065" cy="833719"/>
          </a:xfrm>
        </p:spPr>
        <p:txBody>
          <a:bodyPr>
            <a:normAutofit/>
          </a:bodyPr>
          <a:lstStyle/>
          <a:p>
            <a:r>
              <a:rPr lang="en-US" dirty="0"/>
              <a:t>Dataset type:-</a:t>
            </a:r>
            <a:endParaRPr lang="en-IN" dirty="0"/>
          </a:p>
        </p:txBody>
      </p:sp>
      <p:sp>
        <p:nvSpPr>
          <p:cNvPr id="3" name="Content Placeholder 2">
            <a:extLst>
              <a:ext uri="{FF2B5EF4-FFF2-40B4-BE49-F238E27FC236}">
                <a16:creationId xmlns:a16="http://schemas.microsoft.com/office/drawing/2014/main" id="{8E9267F1-CF08-4EE7-80A6-51061560EC1A}"/>
              </a:ext>
            </a:extLst>
          </p:cNvPr>
          <p:cNvSpPr>
            <a:spLocks noGrp="1"/>
          </p:cNvSpPr>
          <p:nvPr>
            <p:ph sz="half" idx="1"/>
          </p:nvPr>
        </p:nvSpPr>
        <p:spPr>
          <a:xfrm>
            <a:off x="1645675" y="766482"/>
            <a:ext cx="4895056" cy="3124200"/>
          </a:xfrm>
        </p:spPr>
        <p:txBody>
          <a:bodyPr/>
          <a:lstStyle/>
          <a:p>
            <a:pPr marL="0" indent="0">
              <a:buNone/>
            </a:pPr>
            <a:r>
              <a:rPr lang="en-IN" dirty="0"/>
              <a:t>    </a:t>
            </a:r>
          </a:p>
          <a:p>
            <a:r>
              <a:rPr lang="en-IN" dirty="0"/>
              <a:t>Item:- </a:t>
            </a:r>
          </a:p>
          <a:p>
            <a:r>
              <a:rPr lang="en-IN" dirty="0"/>
              <a:t>Dataset Type:-</a:t>
            </a:r>
          </a:p>
          <a:p>
            <a:r>
              <a:rPr lang="en-IN" dirty="0"/>
              <a:t>Source:-</a:t>
            </a:r>
          </a:p>
          <a:p>
            <a:r>
              <a:rPr lang="en-IN" dirty="0"/>
              <a:t>Data Tools Used:-</a:t>
            </a:r>
          </a:p>
          <a:p>
            <a:endParaRPr lang="en-IN" dirty="0"/>
          </a:p>
          <a:p>
            <a:endParaRPr lang="en-IN" dirty="0"/>
          </a:p>
        </p:txBody>
      </p:sp>
      <p:sp>
        <p:nvSpPr>
          <p:cNvPr id="4" name="Content Placeholder 3">
            <a:extLst>
              <a:ext uri="{FF2B5EF4-FFF2-40B4-BE49-F238E27FC236}">
                <a16:creationId xmlns:a16="http://schemas.microsoft.com/office/drawing/2014/main" id="{0B74DAD3-A690-48AC-97C9-985E6AB6CFF7}"/>
              </a:ext>
            </a:extLst>
          </p:cNvPr>
          <p:cNvSpPr>
            <a:spLocks noGrp="1"/>
          </p:cNvSpPr>
          <p:nvPr>
            <p:ph sz="half" idx="2"/>
          </p:nvPr>
        </p:nvSpPr>
        <p:spPr>
          <a:xfrm>
            <a:off x="6625896" y="788893"/>
            <a:ext cx="4660669" cy="2640107"/>
          </a:xfrm>
        </p:spPr>
        <p:txBody>
          <a:bodyPr/>
          <a:lstStyle/>
          <a:p>
            <a:pPr marL="0" indent="0">
              <a:buNone/>
            </a:pPr>
            <a:r>
              <a:rPr lang="en-IN" dirty="0"/>
              <a:t>Description </a:t>
            </a:r>
          </a:p>
          <a:p>
            <a:pPr marL="0" indent="0">
              <a:buNone/>
            </a:pPr>
            <a:r>
              <a:rPr lang="en-IN" dirty="0"/>
              <a:t>Retail Sales </a:t>
            </a:r>
          </a:p>
          <a:p>
            <a:pPr marL="0" indent="0">
              <a:buNone/>
            </a:pPr>
            <a:r>
              <a:rPr lang="en-IN" dirty="0"/>
              <a:t>Company Transaction </a:t>
            </a:r>
          </a:p>
          <a:p>
            <a:pPr marL="0" indent="0">
              <a:buNone/>
            </a:pPr>
            <a:r>
              <a:rPr lang="en-IN" dirty="0"/>
              <a:t>Excel, SQL, Python, Power BI</a:t>
            </a:r>
          </a:p>
        </p:txBody>
      </p:sp>
      <p:sp>
        <p:nvSpPr>
          <p:cNvPr id="5" name="TextBox 4">
            <a:extLst>
              <a:ext uri="{FF2B5EF4-FFF2-40B4-BE49-F238E27FC236}">
                <a16:creationId xmlns:a16="http://schemas.microsoft.com/office/drawing/2014/main" id="{CC8820C2-EBF4-4170-B71A-CFFDC4E227DB}"/>
              </a:ext>
            </a:extLst>
          </p:cNvPr>
          <p:cNvSpPr txBox="1"/>
          <p:nvPr/>
        </p:nvSpPr>
        <p:spPr>
          <a:xfrm>
            <a:off x="5638800" y="2949388"/>
            <a:ext cx="65" cy="276999"/>
          </a:xfrm>
          <a:prstGeom prst="rect">
            <a:avLst/>
          </a:prstGeom>
          <a:noFill/>
        </p:spPr>
        <p:txBody>
          <a:bodyPr wrap="none" lIns="0" tIns="0" rIns="0" bIns="0" rtlCol="0">
            <a:spAutoFit/>
          </a:bodyPr>
          <a:lstStyle/>
          <a:p>
            <a:endParaRPr lang="en-IN" dirty="0"/>
          </a:p>
        </p:txBody>
      </p:sp>
      <p:sp>
        <p:nvSpPr>
          <p:cNvPr id="28" name="TextBox 27">
            <a:extLst>
              <a:ext uri="{FF2B5EF4-FFF2-40B4-BE49-F238E27FC236}">
                <a16:creationId xmlns:a16="http://schemas.microsoft.com/office/drawing/2014/main" id="{3B2ACDB0-C0FB-4699-B160-118FCA00AAE5}"/>
              </a:ext>
            </a:extLst>
          </p:cNvPr>
          <p:cNvSpPr txBox="1"/>
          <p:nvPr/>
        </p:nvSpPr>
        <p:spPr>
          <a:xfrm>
            <a:off x="1739154" y="5422776"/>
            <a:ext cx="9735277" cy="646331"/>
          </a:xfrm>
          <a:prstGeom prst="rect">
            <a:avLst/>
          </a:prstGeom>
          <a:noFill/>
        </p:spPr>
        <p:txBody>
          <a:bodyPr wrap="square" rtlCol="0">
            <a:spAutoFit/>
          </a:bodyPr>
          <a:lstStyle/>
          <a:p>
            <a:r>
              <a:rPr lang="en-US" dirty="0"/>
              <a:t>“The dataset contains customer, product, order, and sales information. I used SQL and Python for analysis and Power BI for visualization. The workflow moved from raw data to actionable insights.”</a:t>
            </a:r>
            <a:endParaRPr lang="en-IN" dirty="0"/>
          </a:p>
        </p:txBody>
      </p:sp>
      <p:sp>
        <p:nvSpPr>
          <p:cNvPr id="29" name="TextBox 28"/>
          <p:cNvSpPr txBox="1"/>
          <p:nvPr/>
        </p:nvSpPr>
        <p:spPr>
          <a:xfrm>
            <a:off x="1554480" y="3154680"/>
            <a:ext cx="2743200" cy="320040"/>
          </a:xfrm>
          <a:prstGeom prst="rect">
            <a:avLst/>
          </a:prstGeom>
          <a:noFill/>
        </p:spPr>
        <p:txBody>
          <a:bodyPr wrap="none" lIns="0" tIns="0" rIns="0" bIns="0">
            <a:spAutoFit/>
          </a:bodyPr>
          <a:lstStyle/>
          <a:p>
            <a:pPr algn="l"/>
            <a:r>
              <a:rPr sz="1600" b="1">
                <a:solidFill>
                  <a:srgbClr val="212121"/>
                </a:solidFill>
              </a:rPr>
              <a:t>Workflow</a:t>
            </a:r>
          </a:p>
        </p:txBody>
      </p:sp>
      <p:sp>
        <p:nvSpPr>
          <p:cNvPr id="30" name="Rounded Rectangle 29"/>
          <p:cNvSpPr/>
          <p:nvPr/>
        </p:nvSpPr>
        <p:spPr>
          <a:xfrm>
            <a:off x="1554480" y="3611880"/>
            <a:ext cx="1691640" cy="685800"/>
          </a:xfrm>
          <a:prstGeom prst="roundRect">
            <a:avLst/>
          </a:prstGeom>
          <a:solidFill>
            <a:srgbClr val="30AC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FFFFFF"/>
                </a:solidFill>
              </a:rPr>
              <a:t>Raw Data</a:t>
            </a:r>
          </a:p>
        </p:txBody>
      </p:sp>
      <p:sp>
        <p:nvSpPr>
          <p:cNvPr id="31" name="Rounded Rectangle 30"/>
          <p:cNvSpPr/>
          <p:nvPr/>
        </p:nvSpPr>
        <p:spPr>
          <a:xfrm>
            <a:off x="3520439" y="3611880"/>
            <a:ext cx="1691640" cy="685800"/>
          </a:xfrm>
          <a:prstGeom prst="roundRect">
            <a:avLst/>
          </a:prstGeom>
          <a:solidFill>
            <a:srgbClr val="30AC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FFFFFF"/>
                </a:solidFill>
              </a:rPr>
              <a:t>Cleaning</a:t>
            </a:r>
          </a:p>
        </p:txBody>
      </p:sp>
      <p:sp>
        <p:nvSpPr>
          <p:cNvPr id="32" name="TextBox 31"/>
          <p:cNvSpPr txBox="1"/>
          <p:nvPr/>
        </p:nvSpPr>
        <p:spPr>
          <a:xfrm>
            <a:off x="3246120" y="3771900"/>
            <a:ext cx="274320" cy="365760"/>
          </a:xfrm>
          <a:prstGeom prst="rect">
            <a:avLst/>
          </a:prstGeom>
          <a:noFill/>
        </p:spPr>
        <p:txBody>
          <a:bodyPr wrap="none" lIns="0" tIns="0" rIns="0" bIns="0">
            <a:spAutoFit/>
          </a:bodyPr>
          <a:lstStyle/>
          <a:p>
            <a:pPr algn="ctr"/>
            <a:r>
              <a:rPr sz="1800" b="1">
                <a:solidFill>
                  <a:srgbClr val="212121"/>
                </a:solidFill>
              </a:rPr>
              <a:t>→</a:t>
            </a:r>
          </a:p>
        </p:txBody>
      </p:sp>
      <p:sp>
        <p:nvSpPr>
          <p:cNvPr id="33" name="Rounded Rectangle 32"/>
          <p:cNvSpPr/>
          <p:nvPr/>
        </p:nvSpPr>
        <p:spPr>
          <a:xfrm>
            <a:off x="5486400" y="3611880"/>
            <a:ext cx="1691640" cy="685800"/>
          </a:xfrm>
          <a:prstGeom prst="roundRect">
            <a:avLst/>
          </a:prstGeom>
          <a:solidFill>
            <a:srgbClr val="30AC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FFFFFF"/>
                </a:solidFill>
              </a:rPr>
              <a:t>SQL Analysis</a:t>
            </a:r>
          </a:p>
        </p:txBody>
      </p:sp>
      <p:sp>
        <p:nvSpPr>
          <p:cNvPr id="34" name="TextBox 33"/>
          <p:cNvSpPr txBox="1"/>
          <p:nvPr/>
        </p:nvSpPr>
        <p:spPr>
          <a:xfrm>
            <a:off x="5212079" y="3771900"/>
            <a:ext cx="274320" cy="365760"/>
          </a:xfrm>
          <a:prstGeom prst="rect">
            <a:avLst/>
          </a:prstGeom>
          <a:noFill/>
        </p:spPr>
        <p:txBody>
          <a:bodyPr wrap="none" lIns="0" tIns="0" rIns="0" bIns="0">
            <a:spAutoFit/>
          </a:bodyPr>
          <a:lstStyle/>
          <a:p>
            <a:pPr algn="ctr"/>
            <a:r>
              <a:rPr sz="1800" b="1">
                <a:solidFill>
                  <a:srgbClr val="212121"/>
                </a:solidFill>
              </a:rPr>
              <a:t>→</a:t>
            </a:r>
          </a:p>
        </p:txBody>
      </p:sp>
      <p:sp>
        <p:nvSpPr>
          <p:cNvPr id="35" name="Rounded Rectangle 34"/>
          <p:cNvSpPr/>
          <p:nvPr/>
        </p:nvSpPr>
        <p:spPr>
          <a:xfrm>
            <a:off x="7452359" y="3611880"/>
            <a:ext cx="1691640" cy="685800"/>
          </a:xfrm>
          <a:prstGeom prst="roundRect">
            <a:avLst/>
          </a:prstGeom>
          <a:solidFill>
            <a:srgbClr val="30AC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FFFFFF"/>
                </a:solidFill>
              </a:rPr>
              <a:t>Python EDA</a:t>
            </a:r>
          </a:p>
        </p:txBody>
      </p:sp>
      <p:sp>
        <p:nvSpPr>
          <p:cNvPr id="36" name="TextBox 35"/>
          <p:cNvSpPr txBox="1"/>
          <p:nvPr/>
        </p:nvSpPr>
        <p:spPr>
          <a:xfrm>
            <a:off x="7178040" y="3771900"/>
            <a:ext cx="274320" cy="365760"/>
          </a:xfrm>
          <a:prstGeom prst="rect">
            <a:avLst/>
          </a:prstGeom>
          <a:noFill/>
        </p:spPr>
        <p:txBody>
          <a:bodyPr wrap="none" lIns="0" tIns="0" rIns="0" bIns="0">
            <a:spAutoFit/>
          </a:bodyPr>
          <a:lstStyle/>
          <a:p>
            <a:pPr algn="ctr"/>
            <a:r>
              <a:rPr sz="1800" b="1">
                <a:solidFill>
                  <a:srgbClr val="212121"/>
                </a:solidFill>
              </a:rPr>
              <a:t>→</a:t>
            </a:r>
          </a:p>
        </p:txBody>
      </p:sp>
      <p:sp>
        <p:nvSpPr>
          <p:cNvPr id="37" name="Rounded Rectangle 36"/>
          <p:cNvSpPr/>
          <p:nvPr/>
        </p:nvSpPr>
        <p:spPr>
          <a:xfrm>
            <a:off x="9418319" y="3611880"/>
            <a:ext cx="1691640" cy="685800"/>
          </a:xfrm>
          <a:prstGeom prst="roundRect">
            <a:avLst/>
          </a:prstGeom>
          <a:solidFill>
            <a:srgbClr val="30AC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FFFFFF"/>
                </a:solidFill>
              </a:rPr>
              <a:t>Power BI
Dashboard</a:t>
            </a:r>
          </a:p>
        </p:txBody>
      </p:sp>
      <p:sp>
        <p:nvSpPr>
          <p:cNvPr id="38" name="TextBox 37"/>
          <p:cNvSpPr txBox="1"/>
          <p:nvPr/>
        </p:nvSpPr>
        <p:spPr>
          <a:xfrm>
            <a:off x="9143999" y="3771900"/>
            <a:ext cx="274320" cy="365760"/>
          </a:xfrm>
          <a:prstGeom prst="rect">
            <a:avLst/>
          </a:prstGeom>
          <a:noFill/>
        </p:spPr>
        <p:txBody>
          <a:bodyPr wrap="none" lIns="0" tIns="0" rIns="0" bIns="0">
            <a:spAutoFit/>
          </a:bodyPr>
          <a:lstStyle/>
          <a:p>
            <a:pPr algn="ctr"/>
            <a:r>
              <a:rPr sz="1800" b="1">
                <a:solidFill>
                  <a:srgbClr val="212121"/>
                </a:solidFill>
              </a:rPr>
              <a:t>→</a:t>
            </a:r>
          </a:p>
        </p:txBody>
      </p:sp>
      <p:sp>
        <p:nvSpPr>
          <p:cNvPr id="39" name="TextBox 38"/>
          <p:cNvSpPr txBox="1"/>
          <p:nvPr/>
        </p:nvSpPr>
        <p:spPr>
          <a:xfrm>
            <a:off x="10126980" y="4325112"/>
            <a:ext cx="274320" cy="274320"/>
          </a:xfrm>
          <a:prstGeom prst="rect">
            <a:avLst/>
          </a:prstGeom>
          <a:noFill/>
        </p:spPr>
        <p:txBody>
          <a:bodyPr wrap="none" lIns="0" tIns="0" rIns="0" bIns="0">
            <a:spAutoFit/>
          </a:bodyPr>
          <a:lstStyle/>
          <a:p>
            <a:pPr algn="ctr"/>
            <a:r>
              <a:rPr sz="1600" b="1">
                <a:solidFill>
                  <a:srgbClr val="212121"/>
                </a:solidFill>
              </a:rPr>
              <a:t>↓</a:t>
            </a:r>
          </a:p>
        </p:txBody>
      </p:sp>
      <p:sp>
        <p:nvSpPr>
          <p:cNvPr id="40" name="Rounded Rectangle 39"/>
          <p:cNvSpPr/>
          <p:nvPr/>
        </p:nvSpPr>
        <p:spPr>
          <a:xfrm>
            <a:off x="9075419" y="4617720"/>
            <a:ext cx="2377440" cy="548640"/>
          </a:xfrm>
          <a:prstGeom prst="roundRect">
            <a:avLst/>
          </a:prstGeom>
          <a:solidFill>
            <a:srgbClr val="80C34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500" b="1">
                <a:solidFill>
                  <a:srgbClr val="FFFFFF"/>
                </a:solidFill>
              </a:rPr>
              <a:t>Insights</a:t>
            </a:r>
          </a:p>
        </p:txBody>
      </p:sp>
    </p:spTree>
    <p:extLst>
      <p:ext uri="{BB962C8B-B14F-4D97-AF65-F5344CB8AC3E}">
        <p14:creationId xmlns:p14="http://schemas.microsoft.com/office/powerpoint/2010/main" val="2503164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4BB69-102A-4DAE-9EFD-26CC114D1CE7}"/>
              </a:ext>
            </a:extLst>
          </p:cNvPr>
          <p:cNvSpPr>
            <a:spLocks noGrp="1"/>
          </p:cNvSpPr>
          <p:nvPr>
            <p:ph type="title"/>
          </p:nvPr>
        </p:nvSpPr>
        <p:spPr>
          <a:xfrm>
            <a:off x="1484311" y="112059"/>
            <a:ext cx="6870796" cy="847165"/>
          </a:xfrm>
        </p:spPr>
        <p:txBody>
          <a:bodyPr/>
          <a:lstStyle/>
          <a:p>
            <a:r>
              <a:rPr lang="en-IN" dirty="0"/>
              <a:t>Data Cleaning &amp; Preparation:-</a:t>
            </a:r>
          </a:p>
        </p:txBody>
      </p:sp>
      <p:sp>
        <p:nvSpPr>
          <p:cNvPr id="3" name="Content Placeholder 2">
            <a:extLst>
              <a:ext uri="{FF2B5EF4-FFF2-40B4-BE49-F238E27FC236}">
                <a16:creationId xmlns:a16="http://schemas.microsoft.com/office/drawing/2014/main" id="{2FE2877C-17E0-488F-BE49-B8C9D4B1CAC0}"/>
              </a:ext>
            </a:extLst>
          </p:cNvPr>
          <p:cNvSpPr>
            <a:spLocks noGrp="1"/>
          </p:cNvSpPr>
          <p:nvPr>
            <p:ph idx="1"/>
          </p:nvPr>
        </p:nvSpPr>
        <p:spPr>
          <a:xfrm>
            <a:off x="1547064" y="891989"/>
            <a:ext cx="9820183" cy="4782670"/>
          </a:xfrm>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r>
              <a:rPr lang="en-US" b="1" dirty="0"/>
              <a:t>Problems Found :-</a:t>
            </a:r>
          </a:p>
          <a:p>
            <a:pPr marL="0" indent="0">
              <a:buNone/>
            </a:pPr>
            <a:r>
              <a:rPr lang="en-US" dirty="0"/>
              <a:t>                   - Missing values </a:t>
            </a:r>
          </a:p>
          <a:p>
            <a:pPr marL="0" indent="0">
              <a:buNone/>
            </a:pPr>
            <a:r>
              <a:rPr lang="en-US" dirty="0"/>
              <a:t>                   - Duplicate rows</a:t>
            </a:r>
          </a:p>
          <a:p>
            <a:pPr marL="0" indent="0">
              <a:buNone/>
            </a:pPr>
            <a:r>
              <a:rPr lang="en-US" dirty="0"/>
              <a:t>                    - Inconsistent date formats </a:t>
            </a:r>
          </a:p>
          <a:p>
            <a:pPr marL="0" indent="0">
              <a:buNone/>
            </a:pPr>
            <a:r>
              <a:rPr lang="en-US" dirty="0"/>
              <a:t>                    - Incorrect data types</a:t>
            </a:r>
          </a:p>
          <a:p>
            <a:pPr marL="0" indent="0">
              <a:buNone/>
            </a:pPr>
            <a:r>
              <a:rPr lang="en-US" dirty="0"/>
              <a:t>Cleaning Steps </a:t>
            </a:r>
          </a:p>
          <a:p>
            <a:pPr marL="0" indent="0">
              <a:buNone/>
            </a:pPr>
            <a:r>
              <a:rPr lang="en-US" dirty="0"/>
              <a:t>                    - Removed duplicates. </a:t>
            </a:r>
          </a:p>
          <a:p>
            <a:pPr marL="0" indent="0">
              <a:buNone/>
            </a:pPr>
            <a:r>
              <a:rPr lang="en-US" dirty="0"/>
              <a:t>                    - Handled missing values. </a:t>
            </a:r>
          </a:p>
          <a:p>
            <a:pPr marL="0" indent="0">
              <a:buNone/>
            </a:pPr>
            <a:r>
              <a:rPr lang="en-US" dirty="0"/>
              <a:t>                    - Standardized dates. </a:t>
            </a:r>
          </a:p>
          <a:p>
            <a:pPr marL="0" indent="0">
              <a:buNone/>
            </a:pPr>
            <a:r>
              <a:rPr lang="en-US" dirty="0"/>
              <a:t>                    - Converted columns to correct data types. </a:t>
            </a:r>
          </a:p>
          <a:p>
            <a:pPr marL="0" indent="0">
              <a:buNone/>
            </a:pPr>
            <a:r>
              <a:rPr lang="en-US" dirty="0"/>
              <a:t>                    - Validated calculations.</a:t>
            </a:r>
          </a:p>
          <a:p>
            <a:pPr marL="0" indent="0">
              <a:buNone/>
            </a:pPr>
            <a:r>
              <a:rPr lang="en-US" dirty="0"/>
              <a:t>Result </a:t>
            </a:r>
          </a:p>
          <a:p>
            <a:pPr marL="0" indent="0">
              <a:buNone/>
            </a:pPr>
            <a:r>
              <a:rPr lang="en-US" dirty="0"/>
              <a:t>✔ Created an analysis-ready dataset.</a:t>
            </a:r>
            <a:endParaRPr lang="en-IN" dirty="0"/>
          </a:p>
        </p:txBody>
      </p:sp>
      <p:sp>
        <p:nvSpPr>
          <p:cNvPr id="4" name="TextBox 3">
            <a:extLst>
              <a:ext uri="{FF2B5EF4-FFF2-40B4-BE49-F238E27FC236}">
                <a16:creationId xmlns:a16="http://schemas.microsoft.com/office/drawing/2014/main" id="{BFB608E3-AC42-4635-B406-B983B11035B0}"/>
              </a:ext>
            </a:extLst>
          </p:cNvPr>
          <p:cNvSpPr txBox="1"/>
          <p:nvPr/>
        </p:nvSpPr>
        <p:spPr>
          <a:xfrm>
            <a:off x="2052917" y="5934635"/>
            <a:ext cx="9063318" cy="646331"/>
          </a:xfrm>
          <a:prstGeom prst="rect">
            <a:avLst/>
          </a:prstGeom>
          <a:noFill/>
        </p:spPr>
        <p:txBody>
          <a:bodyPr wrap="square" rtlCol="0">
            <a:spAutoFit/>
          </a:bodyPr>
          <a:lstStyle/>
          <a:p>
            <a:r>
              <a:rPr lang="en-US" dirty="0"/>
              <a:t>I removed duplicates, handled missing values, standardized dates, corrected data types, and validated calculations. These steps ensured the dataset was reliable for analysis</a:t>
            </a:r>
            <a:endParaRPr lang="en-IN" dirty="0"/>
          </a:p>
        </p:txBody>
      </p:sp>
    </p:spTree>
    <p:extLst>
      <p:ext uri="{BB962C8B-B14F-4D97-AF65-F5344CB8AC3E}">
        <p14:creationId xmlns:p14="http://schemas.microsoft.com/office/powerpoint/2010/main" val="249475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26E06E-86FF-4077-BF94-0E7E3149F986}"/>
              </a:ext>
            </a:extLst>
          </p:cNvPr>
          <p:cNvSpPr>
            <a:spLocks noChangeArrowheads="1"/>
          </p:cNvSpPr>
          <p:nvPr/>
        </p:nvSpPr>
        <p:spPr bwMode="auto">
          <a:xfrm>
            <a:off x="1559858" y="1790897"/>
            <a:ext cx="1004047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Total Sales Analysis:-</a:t>
            </a: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lang="en-US" altLang="en-US"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Total Revenue:-   130.62 MILLION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Number of Orders:-973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Average Order Value :-134.24 THOUSAND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Insight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business generated ₹13 crores approximately in total sales from 973 orders, indicating strong customer demand and transaction volume.</a:t>
            </a:r>
            <a:r>
              <a:rPr lang="en-IN" dirty="0"/>
              <a:t> </a:t>
            </a:r>
          </a:p>
          <a:p>
            <a:pPr marL="0" marR="0" lvl="0" indent="0" algn="l" defTabSz="914400" rtl="0" eaLnBrk="0" fontAlgn="base" latinLnBrk="0" hangingPunct="0">
              <a:lnSpc>
                <a:spcPct val="100000"/>
              </a:lnSpc>
              <a:spcBef>
                <a:spcPct val="0"/>
              </a:spcBef>
              <a:spcAft>
                <a:spcPct val="0"/>
              </a:spcAft>
              <a:buClrTx/>
              <a:buSzTx/>
              <a:buFontTx/>
              <a:buNone/>
              <a:tabLst/>
            </a:pPr>
            <a:r>
              <a:rPr lang="en-IN" sz="2400" dirty="0"/>
              <a:t>2</a:t>
            </a:r>
            <a:r>
              <a:rPr lang="en-IN" dirty="0"/>
              <a:t>.Monthly Sales Trend:-</a:t>
            </a:r>
          </a:p>
          <a:p>
            <a:pPr>
              <a:buFont typeface="Arial" panose="020B0604020202020204" pitchFamily="34" charset="0"/>
              <a:buChar char="•"/>
            </a:pPr>
            <a:r>
              <a:rPr lang="en-US" dirty="0"/>
              <a:t>April and November months had the highest sales.</a:t>
            </a:r>
          </a:p>
          <a:p>
            <a:pPr>
              <a:buFont typeface="Arial" panose="020B0604020202020204" pitchFamily="34" charset="0"/>
              <a:buChar char="•"/>
            </a:pPr>
            <a:r>
              <a:rPr lang="en-US" dirty="0"/>
              <a:t>September month had the lowest sales.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a:p>
            <a:endParaRPr lang="en-US" dirty="0"/>
          </a:p>
          <a:p>
            <a:endParaRPr 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1C6DA97-1084-49A6-8266-6BC5B7FD01A3}"/>
              </a:ext>
            </a:extLst>
          </p:cNvPr>
          <p:cNvSpPr txBox="1"/>
          <p:nvPr/>
        </p:nvSpPr>
        <p:spPr>
          <a:xfrm>
            <a:off x="1559858" y="457199"/>
            <a:ext cx="7557247" cy="523220"/>
          </a:xfrm>
          <a:prstGeom prst="rect">
            <a:avLst/>
          </a:prstGeom>
          <a:noFill/>
        </p:spPr>
        <p:txBody>
          <a:bodyPr wrap="square" rtlCol="0">
            <a:spAutoFit/>
          </a:bodyPr>
          <a:lstStyle/>
          <a:p>
            <a:r>
              <a:rPr lang="en-US" sz="2800" dirty="0"/>
              <a:t>EXPLORATORY DATA  ANALYSIS</a:t>
            </a:r>
            <a:endParaRPr lang="en-IN" sz="2800" dirty="0"/>
          </a:p>
        </p:txBody>
      </p:sp>
      <p:pic>
        <p:nvPicPr>
          <p:cNvPr id="7" name="Picture 6">
            <a:extLst>
              <a:ext uri="{FF2B5EF4-FFF2-40B4-BE49-F238E27FC236}">
                <a16:creationId xmlns:a16="http://schemas.microsoft.com/office/drawing/2014/main" id="{FC3ADE19-BD7F-48CC-9FA2-E405F114761F}"/>
              </a:ext>
            </a:extLst>
          </p:cNvPr>
          <p:cNvPicPr>
            <a:picLocks noChangeAspect="1"/>
          </p:cNvPicPr>
          <p:nvPr/>
        </p:nvPicPr>
        <p:blipFill>
          <a:blip r:embed="rId2"/>
          <a:stretch>
            <a:fillRect/>
          </a:stretch>
        </p:blipFill>
        <p:spPr>
          <a:xfrm>
            <a:off x="5495365" y="1634010"/>
            <a:ext cx="6104964" cy="635388"/>
          </a:xfrm>
          <a:prstGeom prst="rect">
            <a:avLst/>
          </a:prstGeom>
        </p:spPr>
      </p:pic>
      <p:pic>
        <p:nvPicPr>
          <p:cNvPr id="9" name="Picture 8">
            <a:extLst>
              <a:ext uri="{FF2B5EF4-FFF2-40B4-BE49-F238E27FC236}">
                <a16:creationId xmlns:a16="http://schemas.microsoft.com/office/drawing/2014/main" id="{23E627E8-94C5-46E3-8439-F71CC7085451}"/>
              </a:ext>
            </a:extLst>
          </p:cNvPr>
          <p:cNvPicPr>
            <a:picLocks noChangeAspect="1"/>
          </p:cNvPicPr>
          <p:nvPr/>
        </p:nvPicPr>
        <p:blipFill>
          <a:blip r:embed="rId3"/>
          <a:stretch>
            <a:fillRect/>
          </a:stretch>
        </p:blipFill>
        <p:spPr>
          <a:xfrm>
            <a:off x="8095130" y="3259419"/>
            <a:ext cx="3406588" cy="2222087"/>
          </a:xfrm>
          <a:prstGeom prst="rect">
            <a:avLst/>
          </a:prstGeom>
        </p:spPr>
      </p:pic>
      <p:sp>
        <p:nvSpPr>
          <p:cNvPr id="11" name="Rectangle 4">
            <a:extLst>
              <a:ext uri="{FF2B5EF4-FFF2-40B4-BE49-F238E27FC236}">
                <a16:creationId xmlns:a16="http://schemas.microsoft.com/office/drawing/2014/main" id="{4521E665-F9EC-4401-BD34-D8CAEA2017DA}"/>
              </a:ext>
            </a:extLst>
          </p:cNvPr>
          <p:cNvSpPr>
            <a:spLocks noChangeArrowheads="1"/>
          </p:cNvSpPr>
          <p:nvPr/>
        </p:nvSpPr>
        <p:spPr bwMode="auto">
          <a:xfrm>
            <a:off x="1559858" y="5155811"/>
            <a:ext cx="1015701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Sales increased from January (10.5M) to April (12.2M).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There was a sharp decline in May (10.0M).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Sales recovered in June (11.5M) but gradually decreased through September (8.2M), which was the lowest month.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 strong rebound occurred in October (11.5M).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Sales peaked again in November (12.2M) before slightly declining in December (11.8M).</a:t>
            </a:r>
          </a:p>
        </p:txBody>
      </p:sp>
    </p:spTree>
    <p:extLst>
      <p:ext uri="{BB962C8B-B14F-4D97-AF65-F5344CB8AC3E}">
        <p14:creationId xmlns:p14="http://schemas.microsoft.com/office/powerpoint/2010/main" val="379440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D6B218-A4DE-46FB-AA8C-010F9BD631E3}"/>
              </a:ext>
            </a:extLst>
          </p:cNvPr>
          <p:cNvSpPr>
            <a:spLocks noChangeArrowheads="1"/>
          </p:cNvSpPr>
          <p:nvPr/>
        </p:nvSpPr>
        <p:spPr bwMode="auto">
          <a:xfrm>
            <a:off x="1219199" y="-159306"/>
            <a:ext cx="10650071"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3. Sales by Category:-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Explain:</a:t>
            </a: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t>Electronics generated the highest revenue at 47M, making it the largest </a:t>
            </a:r>
            <a:br>
              <a:rPr lang="en-US" dirty="0"/>
            </a:br>
            <a:r>
              <a:rPr lang="en-US" dirty="0"/>
              <a:t>contributor to overall sales.</a:t>
            </a: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t>Fashion recorded the lowest sales at 19M, indicating an opportunity to improve </a:t>
            </a:r>
            <a:br>
              <a:rPr lang="en-US" dirty="0"/>
            </a:br>
            <a:r>
              <a:rPr lang="en-US" dirty="0"/>
              <a:t>product performance and     customer engagement.</a:t>
            </a: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t>Electronics accounts for approximately 35.6% of total sales, meaning more than </a:t>
            </a:r>
            <a:br>
              <a:rPr lang="en-US" dirty="0"/>
            </a:br>
            <a:r>
              <a:rPr lang="en-US" dirty="0"/>
              <a:t>one-third of the company's revenue comes from this category alone.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Key Insight</a:t>
            </a:r>
            <a:br>
              <a:rPr kumimoji="0" lang="en-US" altLang="en-US" sz="1800" b="0" i="0" u="none" strike="noStrike" cap="none" normalizeH="0" baseline="0" dirty="0">
                <a:ln>
                  <a:noFill/>
                </a:ln>
                <a:solidFill>
                  <a:schemeClr val="tx1"/>
                </a:solidFill>
                <a:effectLst/>
                <a:latin typeface="Arial" panose="020B0604020202020204" pitchFamily="34" charset="0"/>
              </a:rPr>
            </a:br>
            <a:r>
              <a:rPr lang="en-US" dirty="0"/>
              <a:t>Electronics leads category performance with 47M in sales, contributing about 35.6% of total revenue, while Fashion is the lowest at 19M. However, ANOVA testing (see Statistical Validation) found this gap is not statistically significant, suggesting the difference may reflect normal variability rather than a structural gap between categories.</a:t>
            </a:r>
            <a:endParaRPr 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dirty="0">
                <a:latin typeface="Arial" panose="020B0604020202020204" pitchFamily="34" charset="0"/>
              </a:rPr>
              <a:t>4.Sales by cities:-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t>Patna and Mumbai generated the highest sales, with approximately 11M each, </a:t>
            </a:r>
          </a:p>
          <a:p>
            <a:pPr marR="0" lvl="0" defTabSz="914400" rtl="0" eaLnBrk="0" fontAlgn="base" latinLnBrk="0" hangingPunct="0">
              <a:lnSpc>
                <a:spcPct val="100000"/>
              </a:lnSpc>
              <a:spcBef>
                <a:spcPct val="0"/>
              </a:spcBef>
              <a:spcAft>
                <a:spcPct val="0"/>
              </a:spcAft>
              <a:buClrTx/>
              <a:buSzTx/>
              <a:tabLst/>
            </a:pPr>
            <a:r>
              <a:rPr lang="en-US" dirty="0"/>
              <a:t>     making  them the strongest revenue contributors among all cities.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t>The top three cities contribute nearly 46% of total sales, indicating that revenue is</a:t>
            </a:r>
          </a:p>
          <a:p>
            <a:pPr marR="0" lvl="0" algn="l" defTabSz="914400" rtl="0" eaLnBrk="0" fontAlgn="base" latinLnBrk="0" hangingPunct="0">
              <a:lnSpc>
                <a:spcPct val="100000"/>
              </a:lnSpc>
              <a:spcBef>
                <a:spcPct val="0"/>
              </a:spcBef>
              <a:spcAft>
                <a:spcPct val="0"/>
              </a:spcAft>
              <a:buClrTx/>
              <a:buSzTx/>
              <a:tabLst/>
            </a:pPr>
            <a:r>
              <a:rPr lang="en-US" dirty="0"/>
              <a:t>      concentrated in a few high-performing markets.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t>Gaya and Bengaluru generated comparatively lower sales, suggesting potential opportunities for market expansion, promotional activities, and customer acquisition efforts.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t>Key Insight:</a:t>
            </a:r>
          </a:p>
          <a:p>
            <a:pPr defTabSz="914400" eaLnBrk="0" fontAlgn="base" hangingPunct="0">
              <a:spcBef>
                <a:spcPct val="0"/>
              </a:spcBef>
              <a:spcAft>
                <a:spcPct val="0"/>
              </a:spcAft>
            </a:pPr>
            <a:r>
              <a:rPr lang="en-US" dirty="0"/>
              <a:t>Patna and Mumbai are the highest-performing cities at 11M each, while the top three cities together contribute nearly 46% of total revenue. This suggests strong demand in major urban markets, whereas cities such as Gaya and Bengaluru offer opportunities for further growth and market development.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dirty="0">
              <a:latin typeface="Arial" panose="020B0604020202020204" pitchFamily="34" charset="0"/>
            </a:endParaRPr>
          </a:p>
        </p:txBody>
      </p:sp>
      <p:pic>
        <p:nvPicPr>
          <p:cNvPr id="4" name="Picture 3">
            <a:extLst>
              <a:ext uri="{FF2B5EF4-FFF2-40B4-BE49-F238E27FC236}">
                <a16:creationId xmlns:a16="http://schemas.microsoft.com/office/drawing/2014/main" id="{E8E79F68-1F3F-4F41-975D-8D6EA169FB94}"/>
              </a:ext>
            </a:extLst>
          </p:cNvPr>
          <p:cNvPicPr>
            <a:picLocks noChangeAspect="1"/>
          </p:cNvPicPr>
          <p:nvPr/>
        </p:nvPicPr>
        <p:blipFill>
          <a:blip r:embed="rId2"/>
          <a:stretch>
            <a:fillRect/>
          </a:stretch>
        </p:blipFill>
        <p:spPr>
          <a:xfrm>
            <a:off x="9526595" y="71717"/>
            <a:ext cx="2270957" cy="1844200"/>
          </a:xfrm>
          <a:prstGeom prst="rect">
            <a:avLst/>
          </a:prstGeom>
        </p:spPr>
      </p:pic>
      <p:pic>
        <p:nvPicPr>
          <p:cNvPr id="6" name="Picture 5">
            <a:extLst>
              <a:ext uri="{FF2B5EF4-FFF2-40B4-BE49-F238E27FC236}">
                <a16:creationId xmlns:a16="http://schemas.microsoft.com/office/drawing/2014/main" id="{1A5E5E1B-F64F-4DBF-8768-8AEA43A8546B}"/>
              </a:ext>
            </a:extLst>
          </p:cNvPr>
          <p:cNvPicPr>
            <a:picLocks noChangeAspect="1"/>
          </p:cNvPicPr>
          <p:nvPr/>
        </p:nvPicPr>
        <p:blipFill>
          <a:blip r:embed="rId3"/>
          <a:stretch>
            <a:fillRect/>
          </a:stretch>
        </p:blipFill>
        <p:spPr>
          <a:xfrm>
            <a:off x="9567831" y="3169024"/>
            <a:ext cx="2301439" cy="1691787"/>
          </a:xfrm>
          <a:prstGeom prst="rect">
            <a:avLst/>
          </a:prstGeom>
        </p:spPr>
      </p:pic>
    </p:spTree>
    <p:extLst>
      <p:ext uri="{BB962C8B-B14F-4D97-AF65-F5344CB8AC3E}">
        <p14:creationId xmlns:p14="http://schemas.microsoft.com/office/powerpoint/2010/main" val="3382776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DCE9BF-DDE7-45BB-BC3F-73FF06772070}"/>
              </a:ext>
            </a:extLst>
          </p:cNvPr>
          <p:cNvSpPr txBox="1"/>
          <p:nvPr/>
        </p:nvSpPr>
        <p:spPr>
          <a:xfrm>
            <a:off x="2017059" y="0"/>
            <a:ext cx="10174940" cy="11726287"/>
          </a:xfrm>
          <a:prstGeom prst="rect">
            <a:avLst/>
          </a:prstGeom>
          <a:noFill/>
        </p:spPr>
        <p:txBody>
          <a:bodyPr wrap="square">
            <a:spAutoFit/>
          </a:bodyPr>
          <a:lstStyle/>
          <a:p>
            <a:r>
              <a:rPr lang="en-IN" dirty="0"/>
              <a:t>5. Customer Demographics:-</a:t>
            </a:r>
          </a:p>
          <a:p>
            <a:pPr marL="285750" indent="-285750">
              <a:buFont typeface="Arial" panose="020B0604020202020204" pitchFamily="34" charset="0"/>
              <a:buChar char="•"/>
            </a:pPr>
            <a:r>
              <a:rPr lang="en-US" dirty="0"/>
              <a:t>Middle-aged customers form the largest customer</a:t>
            </a:r>
          </a:p>
          <a:p>
            <a:r>
              <a:rPr lang="en-US" dirty="0"/>
              <a:t> group, accounting for roughly 31% of the customer base,</a:t>
            </a:r>
          </a:p>
          <a:p>
            <a:r>
              <a:rPr lang="en-US" dirty="0"/>
              <a:t> making them an important target segment for the</a:t>
            </a:r>
          </a:p>
          <a:p>
            <a:r>
              <a:rPr lang="en-US" dirty="0"/>
              <a:t> business.</a:t>
            </a:r>
          </a:p>
          <a:p>
            <a:pPr marL="285750" indent="-285750">
              <a:buFont typeface="Arial" panose="020B0604020202020204" pitchFamily="34" charset="0"/>
              <a:buChar char="•"/>
            </a:pPr>
            <a:r>
              <a:rPr lang="en-US" dirty="0"/>
              <a:t>The customer base is nearly evenly distributed across</a:t>
            </a:r>
          </a:p>
          <a:p>
            <a:r>
              <a:rPr lang="en-US" dirty="0"/>
              <a:t> genders, with males contributing about 51% and females</a:t>
            </a:r>
          </a:p>
          <a:p>
            <a:r>
              <a:rPr lang="en-US" dirty="0"/>
              <a:t> about 49%, indicating broad market appeal.</a:t>
            </a:r>
          </a:p>
          <a:p>
            <a:pPr marL="285750" indent="-285750">
              <a:buFont typeface="Arial" panose="020B0604020202020204" pitchFamily="34" charset="0"/>
              <a:buChar char="•"/>
            </a:pPr>
            <a:r>
              <a:rPr lang="en-US" dirty="0"/>
              <a:t>High-value customers represent the largest customer </a:t>
            </a:r>
          </a:p>
          <a:p>
            <a:r>
              <a:rPr lang="en-US" dirty="0"/>
              <a:t>segment at approximately 53% of the customer base, </a:t>
            </a:r>
          </a:p>
          <a:p>
            <a:r>
              <a:rPr lang="en-US" dirty="0"/>
              <a:t>making them a key focus for retention and personalized </a:t>
            </a:r>
          </a:p>
          <a:p>
            <a:pPr marL="285750" indent="-285750">
              <a:buFont typeface="Arial" panose="020B0604020202020204" pitchFamily="34" charset="0"/>
              <a:buChar char="•"/>
            </a:pPr>
            <a:r>
              <a:rPr lang="en-US" dirty="0"/>
              <a:t>marketing strategies.</a:t>
            </a:r>
          </a:p>
          <a:p>
            <a:pPr marL="285750" indent="-285750">
              <a:buFont typeface="Arial" panose="020B0604020202020204" pitchFamily="34" charset="0"/>
              <a:buChar char="•"/>
            </a:pPr>
            <a:r>
              <a:rPr lang="en-US" dirty="0"/>
              <a:t>Key Insight: Middle-aged customers are the largest </a:t>
            </a:r>
          </a:p>
          <a:p>
            <a:r>
              <a:rPr lang="en-US" dirty="0"/>
              <a:t>customer group (31%), the gender distribution is nearly balanced (51% male vs. 49% female), and high-value customers make up the majority of the customer base (53%), making them a critical segment for customer retention and revenue growth.</a:t>
            </a:r>
          </a:p>
          <a:p>
            <a:r>
              <a:rPr lang="en-IN" dirty="0"/>
              <a:t>6. Top Products</a:t>
            </a:r>
            <a:r>
              <a:rPr lang="en-US" dirty="0"/>
              <a:t>:-</a:t>
            </a:r>
          </a:p>
          <a:p>
            <a:pPr marL="285750" indent="-285750">
              <a:buFont typeface="Arial" panose="020B0604020202020204" pitchFamily="34" charset="0"/>
              <a:buChar char="•"/>
            </a:pPr>
            <a:r>
              <a:rPr lang="en-US" dirty="0"/>
              <a:t>Mobile is the best-selling product with 24M in revenue, followed closely by</a:t>
            </a:r>
          </a:p>
          <a:p>
            <a:r>
              <a:rPr lang="en-US" dirty="0"/>
              <a:t> Laptop and Book at 23M each.</a:t>
            </a:r>
          </a:p>
          <a:p>
            <a:r>
              <a:rPr lang="en-US" dirty="0"/>
              <a:t>The top three products contribute approximately 53% of total product revenue,</a:t>
            </a:r>
          </a:p>
          <a:p>
            <a:r>
              <a:rPr lang="en-US" dirty="0"/>
              <a:t> indicating that revenue is concentrated among a few high-performing items.</a:t>
            </a:r>
          </a:p>
          <a:p>
            <a:r>
              <a:rPr lang="en-US" dirty="0"/>
              <a:t>Key Insight: Mobile is the highest-selling product at 24M, and the top three </a:t>
            </a:r>
          </a:p>
          <a:p>
            <a:r>
              <a:rPr lang="en-US" dirty="0"/>
              <a:t>products—Mobile, Laptop, and Book—generate approximately 53% of total product revenue. This indicates that a few high-performing products play a major role in driving overall sales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05AD0AFB-A98C-4A24-B893-35DB2698B596}"/>
              </a:ext>
            </a:extLst>
          </p:cNvPr>
          <p:cNvPicPr>
            <a:picLocks noChangeAspect="1"/>
          </p:cNvPicPr>
          <p:nvPr/>
        </p:nvPicPr>
        <p:blipFill>
          <a:blip r:embed="rId2"/>
          <a:stretch>
            <a:fillRect/>
          </a:stretch>
        </p:blipFill>
        <p:spPr>
          <a:xfrm>
            <a:off x="7524112" y="1"/>
            <a:ext cx="4596168" cy="3325905"/>
          </a:xfrm>
          <a:prstGeom prst="rect">
            <a:avLst/>
          </a:prstGeom>
        </p:spPr>
      </p:pic>
      <p:pic>
        <p:nvPicPr>
          <p:cNvPr id="7" name="Picture 6">
            <a:extLst>
              <a:ext uri="{FF2B5EF4-FFF2-40B4-BE49-F238E27FC236}">
                <a16:creationId xmlns:a16="http://schemas.microsoft.com/office/drawing/2014/main" id="{3791A2BB-A169-4AAC-BF65-B6A2480B7A27}"/>
              </a:ext>
            </a:extLst>
          </p:cNvPr>
          <p:cNvPicPr>
            <a:picLocks noChangeAspect="1"/>
          </p:cNvPicPr>
          <p:nvPr/>
        </p:nvPicPr>
        <p:blipFill>
          <a:blip r:embed="rId3"/>
          <a:stretch>
            <a:fillRect/>
          </a:stretch>
        </p:blipFill>
        <p:spPr>
          <a:xfrm>
            <a:off x="9640267" y="4137355"/>
            <a:ext cx="2551731" cy="1680740"/>
          </a:xfrm>
          <a:prstGeom prst="rect">
            <a:avLst/>
          </a:prstGeom>
        </p:spPr>
      </p:pic>
    </p:spTree>
    <p:extLst>
      <p:ext uri="{BB962C8B-B14F-4D97-AF65-F5344CB8AC3E}">
        <p14:creationId xmlns:p14="http://schemas.microsoft.com/office/powerpoint/2010/main" val="4190659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80E0EE-6167-4CE8-BA4F-0B95B9AA8933}"/>
              </a:ext>
            </a:extLst>
          </p:cNvPr>
          <p:cNvSpPr txBox="1"/>
          <p:nvPr/>
        </p:nvSpPr>
        <p:spPr>
          <a:xfrm>
            <a:off x="1568825" y="62753"/>
            <a:ext cx="7575176" cy="523220"/>
          </a:xfrm>
          <a:prstGeom prst="rect">
            <a:avLst/>
          </a:prstGeom>
          <a:noFill/>
        </p:spPr>
        <p:txBody>
          <a:bodyPr wrap="square">
            <a:spAutoFit/>
          </a:bodyPr>
          <a:lstStyle/>
          <a:p>
            <a:r>
              <a:rPr lang="en-IN" sz="2800" dirty="0"/>
              <a:t>Power BI Dashboard Walkthrough</a:t>
            </a:r>
          </a:p>
        </p:txBody>
      </p:sp>
      <p:pic>
        <p:nvPicPr>
          <p:cNvPr id="4" name="Picture 3">
            <a:extLst>
              <a:ext uri="{FF2B5EF4-FFF2-40B4-BE49-F238E27FC236}">
                <a16:creationId xmlns:a16="http://schemas.microsoft.com/office/drawing/2014/main" id="{7919512F-9CE2-4B9D-9137-122E0FD6D299}"/>
              </a:ext>
            </a:extLst>
          </p:cNvPr>
          <p:cNvPicPr>
            <a:picLocks noChangeAspect="1"/>
          </p:cNvPicPr>
          <p:nvPr/>
        </p:nvPicPr>
        <p:blipFill>
          <a:blip r:embed="rId2"/>
          <a:stretch>
            <a:fillRect/>
          </a:stretch>
        </p:blipFill>
        <p:spPr>
          <a:xfrm>
            <a:off x="1488142" y="585972"/>
            <a:ext cx="10690821" cy="6012051"/>
          </a:xfrm>
          <a:prstGeom prst="rect">
            <a:avLst/>
          </a:prstGeom>
        </p:spPr>
      </p:pic>
    </p:spTree>
    <p:extLst>
      <p:ext uri="{BB962C8B-B14F-4D97-AF65-F5344CB8AC3E}">
        <p14:creationId xmlns:p14="http://schemas.microsoft.com/office/powerpoint/2010/main" val="2397566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A1A7E7-D25A-4F7B-8C60-A04B84BDC81C}"/>
              </a:ext>
            </a:extLst>
          </p:cNvPr>
          <p:cNvSpPr txBox="1"/>
          <p:nvPr/>
        </p:nvSpPr>
        <p:spPr>
          <a:xfrm>
            <a:off x="1855694" y="88757"/>
            <a:ext cx="10336306" cy="6063198"/>
          </a:xfrm>
          <a:prstGeom prst="rect">
            <a:avLst/>
          </a:prstGeom>
          <a:noFill/>
        </p:spPr>
        <p:txBody>
          <a:bodyPr wrap="square">
            <a:spAutoFit/>
          </a:bodyPr>
          <a:lstStyle/>
          <a:p>
            <a:r>
              <a:rPr lang="en-IN" sz="2800" dirty="0"/>
              <a:t>Key Insights &amp; Findings:-</a:t>
            </a:r>
          </a:p>
          <a:p>
            <a:endParaRPr lang="en-US" b="1" dirty="0"/>
          </a:p>
          <a:p>
            <a:r>
              <a:rPr lang="en-US" b="1" dirty="0"/>
              <a:t>Top Category:-</a:t>
            </a:r>
          </a:p>
          <a:p>
            <a:pPr marL="285750" indent="-285750">
              <a:buFont typeface="Arial" panose="020B0604020202020204" pitchFamily="34" charset="0"/>
              <a:buChar char="•"/>
            </a:pPr>
            <a:r>
              <a:rPr lang="en-US" dirty="0"/>
              <a:t>Electronics generated the highest revenue. It contributed approximately 35.6% of total category sales, making it the primary revenue driver.</a:t>
            </a:r>
          </a:p>
          <a:p>
            <a:r>
              <a:rPr lang="en-US" b="1" dirty="0"/>
              <a:t>Top City:-</a:t>
            </a:r>
          </a:p>
          <a:p>
            <a:pPr marL="285750" indent="-285750">
              <a:buFont typeface="Arial" panose="020B0604020202020204" pitchFamily="34" charset="0"/>
              <a:buChar char="•"/>
            </a:pPr>
            <a:r>
              <a:rPr lang="en-US" dirty="0"/>
              <a:t>Patna and Mumbai contributed the largest share of sales. Both cities generated about 11M in revenue and were the strongest-performing markets.</a:t>
            </a:r>
          </a:p>
          <a:p>
            <a:r>
              <a:rPr lang="en-US" b="1" dirty="0"/>
              <a:t>Peak Month:-</a:t>
            </a:r>
          </a:p>
          <a:p>
            <a:pPr marL="285750" indent="-285750">
              <a:buFont typeface="Arial" panose="020B0604020202020204" pitchFamily="34" charset="0"/>
              <a:buChar char="•"/>
            </a:pPr>
            <a:r>
              <a:rPr lang="en-US" dirty="0"/>
              <a:t>Sales peaked during April and November. Both months recorded approximately 12.2M in sales, indicating strong seasonal demand.</a:t>
            </a:r>
          </a:p>
          <a:p>
            <a:r>
              <a:rPr lang="en-US" b="1" dirty="0"/>
              <a:t>Top Age Group:-</a:t>
            </a:r>
          </a:p>
          <a:p>
            <a:pPr marL="285750" indent="-285750">
              <a:buFont typeface="Arial" panose="020B0604020202020204" pitchFamily="34" charset="0"/>
              <a:buChar char="•"/>
            </a:pPr>
            <a:r>
              <a:rPr lang="en-US" dirty="0"/>
              <a:t>Middle-aged customers represented the largest customer </a:t>
            </a:r>
            <a:r>
              <a:rPr lang="en-US" dirty="0" err="1"/>
              <a:t>group.They</a:t>
            </a:r>
            <a:r>
              <a:rPr lang="en-US" dirty="0"/>
              <a:t> accounted for roughly 31% of customers and were identified as an important target segment.</a:t>
            </a:r>
          </a:p>
          <a:p>
            <a:r>
              <a:rPr lang="en-US" b="1" dirty="0"/>
              <a:t>Product Concentration:-</a:t>
            </a:r>
          </a:p>
          <a:p>
            <a:pPr marL="285750" indent="-285750">
              <a:buFont typeface="Arial" panose="020B0604020202020204" pitchFamily="34" charset="0"/>
              <a:buChar char="•"/>
            </a:pPr>
            <a:r>
              <a:rPr lang="en-US" dirty="0"/>
              <a:t>A small number of products generated a large share of </a:t>
            </a:r>
            <a:r>
              <a:rPr lang="en-US" dirty="0" err="1"/>
              <a:t>sales.Mobile</a:t>
            </a:r>
            <a:r>
              <a:rPr lang="en-US" dirty="0"/>
              <a:t>, Laptop, and Book together contributed approximately 53% of total product revenue.</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373237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28600"/>
            <a:ext cx="7315200" cy="548640"/>
          </a:xfrm>
          <a:prstGeom prst="rect">
            <a:avLst/>
          </a:prstGeom>
          <a:noFill/>
        </p:spPr>
        <p:txBody>
          <a:bodyPr wrap="square" lIns="0" tIns="0" rIns="0" bIns="0" anchor="t">
            <a:spAutoFit/>
          </a:bodyPr>
          <a:lstStyle/>
          <a:p>
            <a:pPr algn="l"/>
            <a:r>
              <a:rPr sz="2600" b="1">
                <a:solidFill>
                  <a:srgbClr val="212121"/>
                </a:solidFill>
              </a:rPr>
              <a:t>Statistical Validation</a:t>
            </a:r>
          </a:p>
        </p:txBody>
      </p:sp>
      <p:sp>
        <p:nvSpPr>
          <p:cNvPr id="3" name="Rounded Rectangle 2"/>
          <p:cNvSpPr/>
          <p:nvPr/>
        </p:nvSpPr>
        <p:spPr>
          <a:xfrm>
            <a:off x="640080" y="1051560"/>
            <a:ext cx="5120640" cy="5349240"/>
          </a:xfrm>
          <a:prstGeom prst="round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051560"/>
            <a:ext cx="5120640" cy="640080"/>
          </a:xfrm>
          <a:prstGeom prst="roundRect">
            <a:avLst/>
          </a:prstGeom>
          <a:solidFill>
            <a:srgbClr val="30A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051560"/>
            <a:ext cx="4663440" cy="640080"/>
          </a:xfrm>
          <a:prstGeom prst="rect">
            <a:avLst/>
          </a:prstGeom>
          <a:noFill/>
        </p:spPr>
        <p:txBody>
          <a:bodyPr wrap="square" lIns="0" tIns="0" rIns="0" bIns="0" anchor="ctr">
            <a:spAutoFit/>
          </a:bodyPr>
          <a:lstStyle/>
          <a:p>
            <a:pPr algn="l"/>
            <a:r>
              <a:rPr sz="1600" b="1">
                <a:solidFill>
                  <a:srgbClr val="FFFFFF"/>
                </a:solidFill>
              </a:rPr>
              <a:t>Test 1: Independent T-Test</a:t>
            </a:r>
          </a:p>
        </p:txBody>
      </p:sp>
      <p:sp>
        <p:nvSpPr>
          <p:cNvPr id="6" name="TextBox 5"/>
          <p:cNvSpPr txBox="1"/>
          <p:nvPr/>
        </p:nvSpPr>
        <p:spPr>
          <a:xfrm>
            <a:off x="914400" y="1920239"/>
            <a:ext cx="4572000" cy="274320"/>
          </a:xfrm>
          <a:prstGeom prst="rect">
            <a:avLst/>
          </a:prstGeom>
          <a:noFill/>
        </p:spPr>
        <p:txBody>
          <a:bodyPr wrap="square" lIns="0" tIns="0" rIns="0" bIns="0" anchor="t">
            <a:spAutoFit/>
          </a:bodyPr>
          <a:lstStyle/>
          <a:p>
            <a:pPr algn="l"/>
            <a:r>
              <a:rPr sz="1000" b="1">
                <a:solidFill>
                  <a:srgbClr val="555555"/>
                </a:solidFill>
              </a:rPr>
              <a:t>OBJECTIVE</a:t>
            </a:r>
          </a:p>
        </p:txBody>
      </p:sp>
      <p:sp>
        <p:nvSpPr>
          <p:cNvPr id="7" name="TextBox 6"/>
          <p:cNvSpPr txBox="1"/>
          <p:nvPr/>
        </p:nvSpPr>
        <p:spPr>
          <a:xfrm>
            <a:off x="914400" y="2176272"/>
            <a:ext cx="4572000" cy="365760"/>
          </a:xfrm>
          <a:prstGeom prst="rect">
            <a:avLst/>
          </a:prstGeom>
          <a:noFill/>
        </p:spPr>
        <p:txBody>
          <a:bodyPr wrap="square" lIns="0" tIns="0" rIns="0" bIns="0" anchor="t">
            <a:spAutoFit/>
          </a:bodyPr>
          <a:lstStyle/>
          <a:p>
            <a:pPr algn="l"/>
            <a:r>
              <a:rPr sz="1400" b="1">
                <a:solidFill>
                  <a:srgbClr val="212121"/>
                </a:solidFill>
              </a:rPr>
              <a:t>Gender vs Sales</a:t>
            </a:r>
          </a:p>
        </p:txBody>
      </p:sp>
      <p:sp>
        <p:nvSpPr>
          <p:cNvPr id="8" name="Rounded Rectangle 7"/>
          <p:cNvSpPr/>
          <p:nvPr/>
        </p:nvSpPr>
        <p:spPr>
          <a:xfrm>
            <a:off x="914400" y="2697479"/>
            <a:ext cx="2148839" cy="1051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807208"/>
            <a:ext cx="2148839" cy="274320"/>
          </a:xfrm>
          <a:prstGeom prst="rect">
            <a:avLst/>
          </a:prstGeom>
          <a:noFill/>
        </p:spPr>
        <p:txBody>
          <a:bodyPr wrap="square" lIns="0" tIns="0" rIns="0" bIns="0" anchor="t">
            <a:spAutoFit/>
          </a:bodyPr>
          <a:lstStyle/>
          <a:p>
            <a:pPr algn="ctr"/>
            <a:r>
              <a:rPr sz="1000" b="1">
                <a:solidFill>
                  <a:srgbClr val="555555"/>
                </a:solidFill>
              </a:rPr>
              <a:t>T-STATISTIC</a:t>
            </a:r>
          </a:p>
        </p:txBody>
      </p:sp>
      <p:sp>
        <p:nvSpPr>
          <p:cNvPr id="10" name="TextBox 9"/>
          <p:cNvSpPr txBox="1"/>
          <p:nvPr/>
        </p:nvSpPr>
        <p:spPr>
          <a:xfrm>
            <a:off x="914400" y="3081527"/>
            <a:ext cx="2148839" cy="594360"/>
          </a:xfrm>
          <a:prstGeom prst="rect">
            <a:avLst/>
          </a:prstGeom>
          <a:noFill/>
        </p:spPr>
        <p:txBody>
          <a:bodyPr wrap="square" lIns="0" tIns="0" rIns="0" bIns="0" anchor="t">
            <a:spAutoFit/>
          </a:bodyPr>
          <a:lstStyle/>
          <a:p>
            <a:pPr algn="ctr"/>
            <a:r>
              <a:rPr sz="2400" b="1">
                <a:solidFill>
                  <a:srgbClr val="30ACEC"/>
                </a:solidFill>
              </a:rPr>
              <a:t>0.4685</a:t>
            </a:r>
          </a:p>
        </p:txBody>
      </p:sp>
      <p:sp>
        <p:nvSpPr>
          <p:cNvPr id="11" name="Rounded Rectangle 10"/>
          <p:cNvSpPr/>
          <p:nvPr/>
        </p:nvSpPr>
        <p:spPr>
          <a:xfrm>
            <a:off x="3337559" y="2697479"/>
            <a:ext cx="2148839" cy="1051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37559" y="2807208"/>
            <a:ext cx="2148839" cy="274320"/>
          </a:xfrm>
          <a:prstGeom prst="rect">
            <a:avLst/>
          </a:prstGeom>
          <a:noFill/>
        </p:spPr>
        <p:txBody>
          <a:bodyPr wrap="square" lIns="0" tIns="0" rIns="0" bIns="0" anchor="t">
            <a:spAutoFit/>
          </a:bodyPr>
          <a:lstStyle/>
          <a:p>
            <a:pPr algn="ctr"/>
            <a:r>
              <a:rPr sz="1000" b="1">
                <a:solidFill>
                  <a:srgbClr val="555555"/>
                </a:solidFill>
              </a:rPr>
              <a:t>P-VALUE</a:t>
            </a:r>
          </a:p>
        </p:txBody>
      </p:sp>
      <p:sp>
        <p:nvSpPr>
          <p:cNvPr id="13" name="TextBox 12"/>
          <p:cNvSpPr txBox="1"/>
          <p:nvPr/>
        </p:nvSpPr>
        <p:spPr>
          <a:xfrm>
            <a:off x="3337559" y="3081527"/>
            <a:ext cx="2148839" cy="594360"/>
          </a:xfrm>
          <a:prstGeom prst="rect">
            <a:avLst/>
          </a:prstGeom>
          <a:noFill/>
        </p:spPr>
        <p:txBody>
          <a:bodyPr wrap="square" lIns="0" tIns="0" rIns="0" bIns="0" anchor="t">
            <a:spAutoFit/>
          </a:bodyPr>
          <a:lstStyle/>
          <a:p>
            <a:pPr algn="ctr"/>
            <a:r>
              <a:rPr sz="2400" b="1">
                <a:solidFill>
                  <a:srgbClr val="30ACEC"/>
                </a:solidFill>
              </a:rPr>
              <a:t>0.6395</a:t>
            </a:r>
          </a:p>
        </p:txBody>
      </p:sp>
      <p:sp>
        <p:nvSpPr>
          <p:cNvPr id="14" name="Rounded Rectangle 13"/>
          <p:cNvSpPr/>
          <p:nvPr/>
        </p:nvSpPr>
        <p:spPr>
          <a:xfrm>
            <a:off x="914400" y="4023359"/>
            <a:ext cx="4572000" cy="502920"/>
          </a:xfrm>
          <a:prstGeom prst="roundRect">
            <a:avLst/>
          </a:prstGeom>
          <a:solidFill>
            <a:srgbClr val="CDD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023359"/>
            <a:ext cx="4572000" cy="502920"/>
          </a:xfrm>
          <a:prstGeom prst="rect">
            <a:avLst/>
          </a:prstGeom>
          <a:noFill/>
        </p:spPr>
        <p:txBody>
          <a:bodyPr wrap="square" lIns="0" tIns="0" rIns="0" bIns="0" anchor="ctr">
            <a:spAutoFit/>
          </a:bodyPr>
          <a:lstStyle/>
          <a:p>
            <a:pPr algn="ctr"/>
            <a:r>
              <a:rPr sz="1400" b="1">
                <a:solidFill>
                  <a:srgbClr val="212121"/>
                </a:solidFill>
              </a:rPr>
              <a:t>Fail to Reject H₀</a:t>
            </a:r>
          </a:p>
        </p:txBody>
      </p:sp>
      <p:sp>
        <p:nvSpPr>
          <p:cNvPr id="16" name="TextBox 15"/>
          <p:cNvSpPr txBox="1"/>
          <p:nvPr/>
        </p:nvSpPr>
        <p:spPr>
          <a:xfrm>
            <a:off x="914400" y="4754879"/>
            <a:ext cx="4572000" cy="1463040"/>
          </a:xfrm>
          <a:prstGeom prst="rect">
            <a:avLst/>
          </a:prstGeom>
          <a:noFill/>
        </p:spPr>
        <p:txBody>
          <a:bodyPr wrap="square" lIns="0" tIns="0" rIns="0" bIns="0" anchor="t">
            <a:spAutoFit/>
          </a:bodyPr>
          <a:lstStyle/>
          <a:p>
            <a:pPr algn="l"/>
            <a:r>
              <a:rPr sz="1200" b="0">
                <a:solidFill>
                  <a:srgbClr val="555555"/>
                </a:solidFill>
              </a:rPr>
              <a:t>No statistically significant difference in spending between male and female customers.</a:t>
            </a:r>
          </a:p>
        </p:txBody>
      </p:sp>
      <p:sp>
        <p:nvSpPr>
          <p:cNvPr id="17" name="Rounded Rectangle 16"/>
          <p:cNvSpPr/>
          <p:nvPr/>
        </p:nvSpPr>
        <p:spPr>
          <a:xfrm>
            <a:off x="6080759" y="1051560"/>
            <a:ext cx="5120640" cy="5349240"/>
          </a:xfrm>
          <a:prstGeom prst="round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080759" y="1051560"/>
            <a:ext cx="5120640" cy="640080"/>
          </a:xfrm>
          <a:prstGeom prst="roundRect">
            <a:avLst/>
          </a:prstGeom>
          <a:solidFill>
            <a:srgbClr val="30A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59" y="1051560"/>
            <a:ext cx="4663440" cy="640080"/>
          </a:xfrm>
          <a:prstGeom prst="rect">
            <a:avLst/>
          </a:prstGeom>
          <a:noFill/>
        </p:spPr>
        <p:txBody>
          <a:bodyPr wrap="square" lIns="0" tIns="0" rIns="0" bIns="0" anchor="ctr">
            <a:spAutoFit/>
          </a:bodyPr>
          <a:lstStyle/>
          <a:p>
            <a:pPr algn="l"/>
            <a:r>
              <a:rPr sz="1600" b="1">
                <a:solidFill>
                  <a:srgbClr val="FFFFFF"/>
                </a:solidFill>
              </a:rPr>
              <a:t>Test 2: One-Way ANOVA</a:t>
            </a:r>
          </a:p>
        </p:txBody>
      </p:sp>
      <p:sp>
        <p:nvSpPr>
          <p:cNvPr id="20" name="TextBox 19"/>
          <p:cNvSpPr txBox="1"/>
          <p:nvPr/>
        </p:nvSpPr>
        <p:spPr>
          <a:xfrm>
            <a:off x="6355079" y="1920239"/>
            <a:ext cx="4572000" cy="274320"/>
          </a:xfrm>
          <a:prstGeom prst="rect">
            <a:avLst/>
          </a:prstGeom>
          <a:noFill/>
        </p:spPr>
        <p:txBody>
          <a:bodyPr wrap="square" lIns="0" tIns="0" rIns="0" bIns="0" anchor="t">
            <a:spAutoFit/>
          </a:bodyPr>
          <a:lstStyle/>
          <a:p>
            <a:pPr algn="l"/>
            <a:r>
              <a:rPr sz="1000" b="1">
                <a:solidFill>
                  <a:srgbClr val="555555"/>
                </a:solidFill>
              </a:rPr>
              <a:t>OBJECTIVE</a:t>
            </a:r>
          </a:p>
        </p:txBody>
      </p:sp>
      <p:sp>
        <p:nvSpPr>
          <p:cNvPr id="21" name="TextBox 20"/>
          <p:cNvSpPr txBox="1"/>
          <p:nvPr/>
        </p:nvSpPr>
        <p:spPr>
          <a:xfrm>
            <a:off x="6355079" y="2176272"/>
            <a:ext cx="4572000" cy="365760"/>
          </a:xfrm>
          <a:prstGeom prst="rect">
            <a:avLst/>
          </a:prstGeom>
          <a:noFill/>
        </p:spPr>
        <p:txBody>
          <a:bodyPr wrap="square" lIns="0" tIns="0" rIns="0" bIns="0" anchor="t">
            <a:spAutoFit/>
          </a:bodyPr>
          <a:lstStyle/>
          <a:p>
            <a:pPr algn="l"/>
            <a:r>
              <a:rPr sz="1400" b="1">
                <a:solidFill>
                  <a:srgbClr val="212121"/>
                </a:solidFill>
              </a:rPr>
              <a:t>Category vs Sales</a:t>
            </a:r>
          </a:p>
        </p:txBody>
      </p:sp>
      <p:sp>
        <p:nvSpPr>
          <p:cNvPr id="22" name="Rounded Rectangle 21"/>
          <p:cNvSpPr/>
          <p:nvPr/>
        </p:nvSpPr>
        <p:spPr>
          <a:xfrm>
            <a:off x="6355079" y="2697479"/>
            <a:ext cx="2148839" cy="1051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79" y="2807208"/>
            <a:ext cx="2148839" cy="274320"/>
          </a:xfrm>
          <a:prstGeom prst="rect">
            <a:avLst/>
          </a:prstGeom>
          <a:noFill/>
        </p:spPr>
        <p:txBody>
          <a:bodyPr wrap="square" lIns="0" tIns="0" rIns="0" bIns="0" anchor="t">
            <a:spAutoFit/>
          </a:bodyPr>
          <a:lstStyle/>
          <a:p>
            <a:pPr algn="ctr"/>
            <a:r>
              <a:rPr sz="1000" b="1">
                <a:solidFill>
                  <a:srgbClr val="555555"/>
                </a:solidFill>
              </a:rPr>
              <a:t>F-STATISTIC</a:t>
            </a:r>
          </a:p>
        </p:txBody>
      </p:sp>
      <p:sp>
        <p:nvSpPr>
          <p:cNvPr id="24" name="TextBox 23"/>
          <p:cNvSpPr txBox="1"/>
          <p:nvPr/>
        </p:nvSpPr>
        <p:spPr>
          <a:xfrm>
            <a:off x="6355079" y="3081527"/>
            <a:ext cx="2148839" cy="594360"/>
          </a:xfrm>
          <a:prstGeom prst="rect">
            <a:avLst/>
          </a:prstGeom>
          <a:noFill/>
        </p:spPr>
        <p:txBody>
          <a:bodyPr wrap="square" lIns="0" tIns="0" rIns="0" bIns="0" anchor="t">
            <a:spAutoFit/>
          </a:bodyPr>
          <a:lstStyle/>
          <a:p>
            <a:pPr algn="ctr"/>
            <a:r>
              <a:rPr sz="2400" b="1">
                <a:solidFill>
                  <a:srgbClr val="30ACEC"/>
                </a:solidFill>
              </a:rPr>
              <a:t>0.5542</a:t>
            </a:r>
          </a:p>
        </p:txBody>
      </p:sp>
      <p:sp>
        <p:nvSpPr>
          <p:cNvPr id="25" name="Rounded Rectangle 24"/>
          <p:cNvSpPr/>
          <p:nvPr/>
        </p:nvSpPr>
        <p:spPr>
          <a:xfrm>
            <a:off x="8778240" y="2697479"/>
            <a:ext cx="2148839" cy="10515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78240" y="2807208"/>
            <a:ext cx="2148839" cy="274320"/>
          </a:xfrm>
          <a:prstGeom prst="rect">
            <a:avLst/>
          </a:prstGeom>
          <a:noFill/>
        </p:spPr>
        <p:txBody>
          <a:bodyPr wrap="square" lIns="0" tIns="0" rIns="0" bIns="0" anchor="t">
            <a:spAutoFit/>
          </a:bodyPr>
          <a:lstStyle/>
          <a:p>
            <a:pPr algn="ctr"/>
            <a:r>
              <a:rPr sz="1000" b="1">
                <a:solidFill>
                  <a:srgbClr val="555555"/>
                </a:solidFill>
              </a:rPr>
              <a:t>P-VALUE</a:t>
            </a:r>
          </a:p>
        </p:txBody>
      </p:sp>
      <p:sp>
        <p:nvSpPr>
          <p:cNvPr id="27" name="TextBox 26"/>
          <p:cNvSpPr txBox="1"/>
          <p:nvPr/>
        </p:nvSpPr>
        <p:spPr>
          <a:xfrm>
            <a:off x="8778240" y="3081527"/>
            <a:ext cx="2148839" cy="594360"/>
          </a:xfrm>
          <a:prstGeom prst="rect">
            <a:avLst/>
          </a:prstGeom>
          <a:noFill/>
        </p:spPr>
        <p:txBody>
          <a:bodyPr wrap="square" lIns="0" tIns="0" rIns="0" bIns="0" anchor="t">
            <a:spAutoFit/>
          </a:bodyPr>
          <a:lstStyle/>
          <a:p>
            <a:pPr algn="ctr"/>
            <a:r>
              <a:rPr sz="2400" b="1">
                <a:solidFill>
                  <a:srgbClr val="30ACEC"/>
                </a:solidFill>
              </a:rPr>
              <a:t>0.6960</a:t>
            </a:r>
          </a:p>
        </p:txBody>
      </p:sp>
      <p:sp>
        <p:nvSpPr>
          <p:cNvPr id="28" name="Rounded Rectangle 27"/>
          <p:cNvSpPr/>
          <p:nvPr/>
        </p:nvSpPr>
        <p:spPr>
          <a:xfrm>
            <a:off x="6355079" y="4023359"/>
            <a:ext cx="4572000" cy="502920"/>
          </a:xfrm>
          <a:prstGeom prst="roundRect">
            <a:avLst/>
          </a:prstGeom>
          <a:solidFill>
            <a:srgbClr val="CDD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79" y="4023359"/>
            <a:ext cx="4572000" cy="502920"/>
          </a:xfrm>
          <a:prstGeom prst="rect">
            <a:avLst/>
          </a:prstGeom>
          <a:noFill/>
        </p:spPr>
        <p:txBody>
          <a:bodyPr wrap="square" lIns="0" tIns="0" rIns="0" bIns="0" anchor="ctr">
            <a:spAutoFit/>
          </a:bodyPr>
          <a:lstStyle/>
          <a:p>
            <a:pPr algn="ctr"/>
            <a:r>
              <a:rPr sz="1400" b="1">
                <a:solidFill>
                  <a:srgbClr val="212121"/>
                </a:solidFill>
              </a:rPr>
              <a:t>Fail to Reject H₀</a:t>
            </a:r>
          </a:p>
        </p:txBody>
      </p:sp>
      <p:sp>
        <p:nvSpPr>
          <p:cNvPr id="30" name="TextBox 29"/>
          <p:cNvSpPr txBox="1"/>
          <p:nvPr/>
        </p:nvSpPr>
        <p:spPr>
          <a:xfrm>
            <a:off x="6355079" y="4754879"/>
            <a:ext cx="4572000" cy="1463040"/>
          </a:xfrm>
          <a:prstGeom prst="rect">
            <a:avLst/>
          </a:prstGeom>
          <a:noFill/>
        </p:spPr>
        <p:txBody>
          <a:bodyPr wrap="square" lIns="0" tIns="0" rIns="0" bIns="0" anchor="t">
            <a:spAutoFit/>
          </a:bodyPr>
          <a:lstStyle/>
          <a:p>
            <a:pPr algn="l"/>
            <a:r>
              <a:rPr sz="1200" b="0">
                <a:solidFill>
                  <a:srgbClr val="555555"/>
                </a:solidFill>
              </a:rPr>
              <a:t>Average sales do not differ significantly across product categories.</a:t>
            </a:r>
          </a:p>
        </p:txBody>
      </p:sp>
    </p:spTree>
    <p:extLst>
      <p:ext uri="{BB962C8B-B14F-4D97-AF65-F5344CB8AC3E}">
        <p14:creationId xmlns:p14="http://schemas.microsoft.com/office/powerpoint/2010/main" val="758795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4CBC1-A7EF-4BC5-B071-B2ED92E832CF}"/>
              </a:ext>
            </a:extLst>
          </p:cNvPr>
          <p:cNvSpPr txBox="1"/>
          <p:nvPr/>
        </p:nvSpPr>
        <p:spPr>
          <a:xfrm>
            <a:off x="1586753" y="197225"/>
            <a:ext cx="10425953" cy="5078313"/>
          </a:xfrm>
          <a:prstGeom prst="rect">
            <a:avLst/>
          </a:prstGeom>
          <a:noFill/>
        </p:spPr>
        <p:txBody>
          <a:bodyPr wrap="square">
            <a:spAutoFit/>
          </a:bodyPr>
          <a:lstStyle/>
          <a:p>
            <a:r>
              <a:rPr lang="en-US" b="1" dirty="0"/>
              <a:t>Test 3: Chi-Square Test</a:t>
            </a:r>
          </a:p>
          <a:p>
            <a:r>
              <a:rPr lang="en-US" dirty="0"/>
              <a:t>Objective</a:t>
            </a:r>
          </a:p>
          <a:p>
            <a:r>
              <a:rPr lang="en-US" dirty="0"/>
              <a:t>Gender vs Category</a:t>
            </a:r>
          </a:p>
          <a:p>
            <a:r>
              <a:rPr lang="en-US" dirty="0"/>
              <a:t>Chi-Square                                8.1172</a:t>
            </a:r>
          </a:p>
          <a:p>
            <a:r>
              <a:rPr lang="en-US" dirty="0"/>
              <a:t>P-Value                                       0.0874</a:t>
            </a:r>
          </a:p>
          <a:p>
            <a:r>
              <a:rPr lang="en-US" dirty="0"/>
              <a:t>Degrees of Freedom              4</a:t>
            </a:r>
          </a:p>
          <a:p>
            <a:r>
              <a:rPr lang="en-US" dirty="0"/>
              <a:t>Conclusion :-Fail to reject H₀</a:t>
            </a:r>
          </a:p>
          <a:p>
            <a:r>
              <a:rPr lang="en-US" dirty="0"/>
              <a:t>No significant association between customer gender and product category selection.</a:t>
            </a:r>
          </a:p>
          <a:p>
            <a:endParaRPr lang="en-US" b="1" dirty="0"/>
          </a:p>
          <a:p>
            <a:endParaRPr lang="en-US" b="1" dirty="0"/>
          </a:p>
          <a:p>
            <a:endParaRPr lang="en-US" b="1" dirty="0"/>
          </a:p>
          <a:p>
            <a:r>
              <a:rPr lang="en-US" b="1" dirty="0"/>
              <a:t>Key Business Insight</a:t>
            </a:r>
          </a:p>
          <a:p>
            <a:pPr>
              <a:buFont typeface="Arial" panose="020B0604020202020204" pitchFamily="34" charset="0"/>
              <a:buChar char="•"/>
            </a:pPr>
            <a:r>
              <a:rPr lang="en-US" dirty="0"/>
              <a:t>Gender: No significant impact on customer spending.</a:t>
            </a:r>
          </a:p>
          <a:p>
            <a:pPr>
              <a:buFont typeface="Arial" panose="020B0604020202020204" pitchFamily="34" charset="0"/>
              <a:buChar char="•"/>
            </a:pPr>
            <a:r>
              <a:rPr lang="en-US" dirty="0"/>
              <a:t>Product Categories: Similar sales performance across categories.</a:t>
            </a:r>
          </a:p>
          <a:p>
            <a:pPr>
              <a:buFont typeface="Arial" panose="020B0604020202020204" pitchFamily="34" charset="0"/>
              <a:buChar char="•"/>
            </a:pPr>
            <a:r>
              <a:rPr lang="en-US" dirty="0"/>
              <a:t>Customer Behavior: Purchasing preferences appear broadly consistent across genders.</a:t>
            </a:r>
          </a:p>
          <a:p>
            <a:pPr>
              <a:buFont typeface="Arial" panose="020B0604020202020204" pitchFamily="34" charset="0"/>
              <a:buChar char="•"/>
            </a:pPr>
            <a:r>
              <a:rPr lang="en-US" dirty="0"/>
              <a:t>Recommendation: Focus on pricing, promotions, customer segmentation, and retention strategies rather than gender-specific marketing.</a:t>
            </a:r>
          </a:p>
          <a:p>
            <a:endParaRPr lang="en-US" dirty="0"/>
          </a:p>
        </p:txBody>
      </p:sp>
      <p:pic>
        <p:nvPicPr>
          <p:cNvPr id="5" name="Picture 4">
            <a:extLst>
              <a:ext uri="{FF2B5EF4-FFF2-40B4-BE49-F238E27FC236}">
                <a16:creationId xmlns:a16="http://schemas.microsoft.com/office/drawing/2014/main" id="{D15147EC-8663-4B0A-9C41-0EC51C7314EE}"/>
              </a:ext>
            </a:extLst>
          </p:cNvPr>
          <p:cNvPicPr>
            <a:picLocks noChangeAspect="1"/>
          </p:cNvPicPr>
          <p:nvPr/>
        </p:nvPicPr>
        <p:blipFill>
          <a:blip r:embed="rId2"/>
          <a:stretch>
            <a:fillRect/>
          </a:stretch>
        </p:blipFill>
        <p:spPr>
          <a:xfrm>
            <a:off x="5695978" y="112879"/>
            <a:ext cx="5258893" cy="2025385"/>
          </a:xfrm>
          <a:prstGeom prst="rect">
            <a:avLst/>
          </a:prstGeom>
        </p:spPr>
      </p:pic>
    </p:spTree>
    <p:extLst>
      <p:ext uri="{BB962C8B-B14F-4D97-AF65-F5344CB8AC3E}">
        <p14:creationId xmlns:p14="http://schemas.microsoft.com/office/powerpoint/2010/main" val="1202076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F11B32-05BB-48A0-8C3A-B4960B751004}"/>
              </a:ext>
            </a:extLst>
          </p:cNvPr>
          <p:cNvSpPr txBox="1"/>
          <p:nvPr/>
        </p:nvSpPr>
        <p:spPr>
          <a:xfrm>
            <a:off x="1676400" y="214263"/>
            <a:ext cx="10515600" cy="5786199"/>
          </a:xfrm>
          <a:prstGeom prst="rect">
            <a:avLst/>
          </a:prstGeom>
          <a:noFill/>
        </p:spPr>
        <p:txBody>
          <a:bodyPr wrap="square">
            <a:spAutoFit/>
          </a:bodyPr>
          <a:lstStyle/>
          <a:p>
            <a:r>
              <a:rPr lang="en-IN" sz="2800" b="1" dirty="0"/>
              <a:t>Business Recommendations:-</a:t>
            </a:r>
          </a:p>
          <a:p>
            <a:r>
              <a:rPr lang="en-US" b="1" dirty="0"/>
              <a:t>Optimize Inventory Management:-</a:t>
            </a:r>
          </a:p>
          <a:p>
            <a:r>
              <a:rPr lang="en-US" dirty="0"/>
              <a:t>Action</a:t>
            </a:r>
          </a:p>
          <a:p>
            <a:pPr>
              <a:buFont typeface="Arial" panose="020B0604020202020204" pitchFamily="34" charset="0"/>
              <a:buChar char="•"/>
            </a:pPr>
            <a:r>
              <a:rPr lang="en-US" dirty="0"/>
              <a:t>Increase inventory for high-selling products.</a:t>
            </a:r>
          </a:p>
          <a:p>
            <a:pPr>
              <a:buFont typeface="Arial" panose="020B0604020202020204" pitchFamily="34" charset="0"/>
              <a:buChar char="•"/>
            </a:pPr>
            <a:r>
              <a:rPr lang="en-US" dirty="0"/>
              <a:t>Maintain safety stock to avoid stock-outs.</a:t>
            </a:r>
          </a:p>
          <a:p>
            <a:pPr>
              <a:buFont typeface="Arial" panose="020B0604020202020204" pitchFamily="34" charset="0"/>
              <a:buChar char="•"/>
            </a:pPr>
            <a:r>
              <a:rPr lang="en-US" dirty="0"/>
              <a:t>Monitor demand trends regularly.</a:t>
            </a:r>
          </a:p>
          <a:p>
            <a:pPr>
              <a:buFont typeface="Arial" panose="020B0604020202020204" pitchFamily="34" charset="0"/>
              <a:buChar char="•"/>
            </a:pPr>
            <a:endParaRPr lang="en-US" dirty="0"/>
          </a:p>
          <a:p>
            <a:r>
              <a:rPr lang="en-US" b="1" dirty="0"/>
              <a:t>Focus on High-Revenue Regions:-</a:t>
            </a:r>
          </a:p>
          <a:p>
            <a:r>
              <a:rPr lang="en-US" dirty="0"/>
              <a:t>Action</a:t>
            </a:r>
          </a:p>
          <a:p>
            <a:pPr>
              <a:buFont typeface="Arial" panose="020B0604020202020204" pitchFamily="34" charset="0"/>
              <a:buChar char="•"/>
            </a:pPr>
            <a:r>
              <a:rPr lang="en-US" dirty="0"/>
              <a:t>Allocate additional marketing budget to Patna and Mumbai.</a:t>
            </a:r>
          </a:p>
          <a:p>
            <a:pPr>
              <a:buFont typeface="Arial" panose="020B0604020202020204" pitchFamily="34" charset="0"/>
              <a:buChar char="•"/>
            </a:pPr>
            <a:r>
              <a:rPr lang="en-US" dirty="0"/>
              <a:t>Expand customer acquisition campaigns in top-performing locations.</a:t>
            </a:r>
          </a:p>
          <a:p>
            <a:pPr>
              <a:buFont typeface="Arial" panose="020B0604020202020204" pitchFamily="34" charset="0"/>
              <a:buChar char="•"/>
            </a:pPr>
            <a:r>
              <a:rPr lang="en-US" dirty="0"/>
              <a:t>Analyze why these regions perform better and replicate successful strategies elsewhere.</a:t>
            </a:r>
          </a:p>
          <a:p>
            <a:endParaRPr lang="en-US" dirty="0"/>
          </a:p>
          <a:p>
            <a:endParaRPr lang="en-US" dirty="0"/>
          </a:p>
          <a:p>
            <a:r>
              <a:rPr lang="en-US" b="1" dirty="0"/>
              <a:t>Improve Underperforming Categories</a:t>
            </a:r>
          </a:p>
          <a:p>
            <a:r>
              <a:rPr lang="en-US" dirty="0"/>
              <a:t>Action</a:t>
            </a:r>
          </a:p>
          <a:p>
            <a:pPr>
              <a:buFont typeface="Arial" panose="020B0604020202020204" pitchFamily="34" charset="0"/>
              <a:buChar char="•"/>
            </a:pPr>
            <a:r>
              <a:rPr lang="en-US" dirty="0"/>
              <a:t>Offer targeted discounts and bundles.</a:t>
            </a:r>
          </a:p>
          <a:p>
            <a:pPr>
              <a:buFont typeface="Arial" panose="020B0604020202020204" pitchFamily="34" charset="0"/>
              <a:buChar char="•"/>
            </a:pPr>
            <a:r>
              <a:rPr lang="en-US" dirty="0"/>
              <a:t>Review pricing and product assortment.</a:t>
            </a:r>
          </a:p>
          <a:p>
            <a:pPr>
              <a:buFont typeface="Arial" panose="020B0604020202020204" pitchFamily="34" charset="0"/>
              <a:buChar char="•"/>
            </a:pPr>
            <a:r>
              <a:rPr lang="en-US" dirty="0"/>
              <a:t>Identify categories with declining sales and redesign promotional strategies.</a:t>
            </a:r>
          </a:p>
          <a:p>
            <a:endParaRPr lang="en-IN" b="1" dirty="0"/>
          </a:p>
        </p:txBody>
      </p:sp>
      <p:sp>
        <p:nvSpPr>
          <p:cNvPr id="5" name="Rectangle 4">
            <a:extLst>
              <a:ext uri="{FF2B5EF4-FFF2-40B4-BE49-F238E27FC236}">
                <a16:creationId xmlns:a16="http://schemas.microsoft.com/office/drawing/2014/main" id="{1B6BD1DE-3BB5-48C0-B143-293253D675B4}"/>
              </a:ext>
            </a:extLst>
          </p:cNvPr>
          <p:cNvSpPr/>
          <p:nvPr/>
        </p:nvSpPr>
        <p:spPr>
          <a:xfrm>
            <a:off x="1775011" y="1299882"/>
            <a:ext cx="7351059" cy="7709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119295A-4DA7-4AEA-B856-B0E893083138}"/>
              </a:ext>
            </a:extLst>
          </p:cNvPr>
          <p:cNvSpPr/>
          <p:nvPr/>
        </p:nvSpPr>
        <p:spPr>
          <a:xfrm>
            <a:off x="1775011" y="2900082"/>
            <a:ext cx="10103224" cy="83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5CD3312-7616-449B-BD0D-C102233DC461}"/>
              </a:ext>
            </a:extLst>
          </p:cNvPr>
          <p:cNvSpPr/>
          <p:nvPr/>
        </p:nvSpPr>
        <p:spPr>
          <a:xfrm>
            <a:off x="1748117" y="4790227"/>
            <a:ext cx="10372165"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88989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BA465A-9DE9-4B9C-8D34-401E761E5275}"/>
              </a:ext>
            </a:extLst>
          </p:cNvPr>
          <p:cNvSpPr txBox="1"/>
          <p:nvPr/>
        </p:nvSpPr>
        <p:spPr>
          <a:xfrm>
            <a:off x="1577787" y="0"/>
            <a:ext cx="8462683" cy="8125301"/>
          </a:xfrm>
          <a:prstGeom prst="rect">
            <a:avLst/>
          </a:prstGeom>
          <a:noFill/>
        </p:spPr>
        <p:txBody>
          <a:bodyPr wrap="square">
            <a:spAutoFit/>
          </a:bodyPr>
          <a:lstStyle/>
          <a:p>
            <a:r>
              <a:rPr lang="en-US" b="1" dirty="0"/>
              <a:t>Prepare for Seasonal Demand:-</a:t>
            </a:r>
          </a:p>
          <a:p>
            <a:r>
              <a:rPr lang="en-US" dirty="0"/>
              <a:t>Action</a:t>
            </a:r>
          </a:p>
          <a:p>
            <a:pPr>
              <a:buFont typeface="Arial" panose="020B0604020202020204" pitchFamily="34" charset="0"/>
              <a:buChar char="•"/>
            </a:pPr>
            <a:r>
              <a:rPr lang="en-US" dirty="0"/>
              <a:t>Increase inventory before peak sales months.</a:t>
            </a:r>
          </a:p>
          <a:p>
            <a:pPr>
              <a:buFont typeface="Arial" panose="020B0604020202020204" pitchFamily="34" charset="0"/>
              <a:buChar char="•"/>
            </a:pPr>
            <a:r>
              <a:rPr lang="en-US" dirty="0"/>
              <a:t>Schedule marketing campaigns ahead of seasonal spikes.</a:t>
            </a:r>
          </a:p>
          <a:p>
            <a:pPr>
              <a:buFont typeface="Arial" panose="020B0604020202020204" pitchFamily="34" charset="0"/>
              <a:buChar char="•"/>
            </a:pPr>
            <a:r>
              <a:rPr lang="en-US" dirty="0"/>
              <a:t>Coordinate procurement and logistics to prevent shortages.</a:t>
            </a:r>
          </a:p>
          <a:p>
            <a:endParaRPr lang="en-US" dirty="0"/>
          </a:p>
          <a:p>
            <a:endParaRPr lang="en-US" dirty="0"/>
          </a:p>
          <a:p>
            <a:r>
              <a:rPr lang="en-US" b="1" dirty="0"/>
              <a:t>Personalized Customer Marketing:-</a:t>
            </a:r>
          </a:p>
          <a:p>
            <a:r>
              <a:rPr lang="en-US" dirty="0"/>
              <a:t>Action</a:t>
            </a:r>
          </a:p>
          <a:p>
            <a:pPr>
              <a:buFont typeface="Arial" panose="020B0604020202020204" pitchFamily="34" charset="0"/>
              <a:buChar char="•"/>
            </a:pPr>
            <a:r>
              <a:rPr lang="en-US" dirty="0"/>
              <a:t>Identify high-value customers.</a:t>
            </a:r>
          </a:p>
          <a:p>
            <a:pPr>
              <a:buFont typeface="Arial" panose="020B0604020202020204" pitchFamily="34" charset="0"/>
              <a:buChar char="•"/>
            </a:pPr>
            <a:r>
              <a:rPr lang="en-US" dirty="0"/>
              <a:t>Send personalized offers, loyalty rewards, and recommendations.</a:t>
            </a:r>
          </a:p>
          <a:p>
            <a:pPr>
              <a:buFont typeface="Arial" panose="020B0604020202020204" pitchFamily="34" charset="0"/>
              <a:buChar char="•"/>
            </a:pPr>
            <a:r>
              <a:rPr lang="en-US" dirty="0"/>
              <a:t>Use customer segmentation to improve retention and repeat purchases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lgn="ctr"/>
            <a:r>
              <a:rPr lang="en-US" b="1" dirty="0"/>
              <a:t>Final Recommendation:-</a:t>
            </a:r>
          </a:p>
          <a:p>
            <a:r>
              <a:rPr lang="en-US" dirty="0"/>
              <a:t>Leverage sales insights to optimize inventory, strengthen top-performing markets, improve weaker categories, and build personalized customer engagement strategies for sustainable growth.</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a:t>
            </a:r>
          </a:p>
        </p:txBody>
      </p:sp>
      <p:sp>
        <p:nvSpPr>
          <p:cNvPr id="7" name="Rectangle 6">
            <a:extLst>
              <a:ext uri="{FF2B5EF4-FFF2-40B4-BE49-F238E27FC236}">
                <a16:creationId xmlns:a16="http://schemas.microsoft.com/office/drawing/2014/main" id="{685F6B8E-EDA9-43FE-9CFE-572C2E1F698E}"/>
              </a:ext>
            </a:extLst>
          </p:cNvPr>
          <p:cNvSpPr/>
          <p:nvPr/>
        </p:nvSpPr>
        <p:spPr>
          <a:xfrm>
            <a:off x="1649506" y="618565"/>
            <a:ext cx="6526306" cy="8068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B575D6B7-F754-4A06-B1BA-7C1A1430D624}"/>
              </a:ext>
            </a:extLst>
          </p:cNvPr>
          <p:cNvSpPr/>
          <p:nvPr/>
        </p:nvSpPr>
        <p:spPr>
          <a:xfrm>
            <a:off x="1649506" y="2465295"/>
            <a:ext cx="6849035" cy="8875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742C687-ADB8-45E7-8C7F-8FF594193F81}"/>
              </a:ext>
            </a:extLst>
          </p:cNvPr>
          <p:cNvSpPr txBox="1"/>
          <p:nvPr/>
        </p:nvSpPr>
        <p:spPr>
          <a:xfrm>
            <a:off x="1649506" y="3824372"/>
            <a:ext cx="7826188" cy="1477328"/>
          </a:xfrm>
          <a:prstGeom prst="rect">
            <a:avLst/>
          </a:prstGeom>
          <a:noFill/>
        </p:spPr>
        <p:txBody>
          <a:bodyPr wrap="square">
            <a:spAutoFit/>
          </a:bodyPr>
          <a:lstStyle/>
          <a:p>
            <a:r>
              <a:rPr lang="en-US" dirty="0"/>
              <a:t>Expected Business Impact</a:t>
            </a:r>
          </a:p>
          <a:p>
            <a:r>
              <a:rPr lang="en-US" dirty="0"/>
              <a:t>Revenue↑ Higher Sales</a:t>
            </a:r>
          </a:p>
          <a:p>
            <a:r>
              <a:rPr lang="en-US" dirty="0"/>
              <a:t>Retention↑ Better Loyalty</a:t>
            </a:r>
          </a:p>
          <a:p>
            <a:r>
              <a:rPr lang="en-US" dirty="0"/>
              <a:t>Inventory↓ Stock-Outs</a:t>
            </a:r>
          </a:p>
          <a:p>
            <a:r>
              <a:rPr lang="en-US" dirty="0"/>
              <a:t>Growth↑ Business Growth</a:t>
            </a:r>
          </a:p>
        </p:txBody>
      </p:sp>
      <p:sp>
        <p:nvSpPr>
          <p:cNvPr id="13" name="Rectangle 12">
            <a:extLst>
              <a:ext uri="{FF2B5EF4-FFF2-40B4-BE49-F238E27FC236}">
                <a16:creationId xmlns:a16="http://schemas.microsoft.com/office/drawing/2014/main" id="{EBBCE310-F85D-4B13-B169-FD0AC1EB8CAD}"/>
              </a:ext>
            </a:extLst>
          </p:cNvPr>
          <p:cNvSpPr/>
          <p:nvPr/>
        </p:nvSpPr>
        <p:spPr>
          <a:xfrm>
            <a:off x="1649506" y="3827929"/>
            <a:ext cx="6920753" cy="14612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94921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0BDBAC-F3E0-4518-97FE-421FA39497D8}"/>
              </a:ext>
            </a:extLst>
          </p:cNvPr>
          <p:cNvSpPr txBox="1"/>
          <p:nvPr/>
        </p:nvSpPr>
        <p:spPr>
          <a:xfrm>
            <a:off x="1658470" y="475129"/>
            <a:ext cx="10228729" cy="4678204"/>
          </a:xfrm>
          <a:prstGeom prst="rect">
            <a:avLst/>
          </a:prstGeom>
          <a:noFill/>
        </p:spPr>
        <p:txBody>
          <a:bodyPr wrap="square">
            <a:spAutoFit/>
          </a:bodyPr>
          <a:lstStyle/>
          <a:p>
            <a:r>
              <a:rPr lang="en-US" sz="2800" b="1" dirty="0"/>
              <a:t>Project Successfully Completed</a:t>
            </a:r>
          </a:p>
          <a:p>
            <a:r>
              <a:rPr lang="en-US" b="1" dirty="0"/>
              <a:t>Project Completion Checklist</a:t>
            </a:r>
          </a:p>
          <a:p>
            <a:pPr marL="342900" indent="-342900">
              <a:buFont typeface="+mj-lt"/>
              <a:buAutoNum type="arabicPeriod"/>
            </a:pPr>
            <a:r>
              <a:rPr lang="en-US" dirty="0"/>
              <a:t>Data Collection &amp; Cleaning</a:t>
            </a:r>
          </a:p>
          <a:p>
            <a:pPr marL="342900" indent="-342900">
              <a:buFont typeface="+mj-lt"/>
              <a:buAutoNum type="arabicPeriod"/>
            </a:pPr>
            <a:r>
              <a:rPr lang="en-US" dirty="0"/>
              <a:t>Exploratory Data Analysis (EDA)</a:t>
            </a:r>
          </a:p>
          <a:p>
            <a:pPr marL="342900" indent="-342900">
              <a:buFont typeface="+mj-lt"/>
              <a:buAutoNum type="arabicPeriod"/>
            </a:pPr>
            <a:r>
              <a:rPr lang="en-US" dirty="0"/>
              <a:t>SQL Queries &amp; Business Analysis</a:t>
            </a:r>
          </a:p>
          <a:p>
            <a:pPr marL="342900" indent="-342900">
              <a:buFont typeface="+mj-lt"/>
              <a:buAutoNum type="arabicPeriod"/>
            </a:pPr>
            <a:r>
              <a:rPr lang="en-US" dirty="0"/>
              <a:t>Hypothesis Testing</a:t>
            </a:r>
          </a:p>
          <a:p>
            <a:pPr marL="342900" indent="-342900">
              <a:buFont typeface="+mj-lt"/>
              <a:buAutoNum type="arabicPeriod"/>
            </a:pPr>
            <a:r>
              <a:rPr lang="en-US" dirty="0"/>
              <a:t>Interactive Power BI Dashboard</a:t>
            </a:r>
          </a:p>
          <a:p>
            <a:pPr marL="342900" indent="-342900">
              <a:buFont typeface="+mj-lt"/>
              <a:buAutoNum type="arabicPeriod"/>
            </a:pPr>
            <a:r>
              <a:rPr lang="en-US" dirty="0"/>
              <a:t>Business Insights &amp; Recommendations</a:t>
            </a:r>
          </a:p>
          <a:p>
            <a:endParaRPr lang="en-US" dirty="0"/>
          </a:p>
          <a:p>
            <a:r>
              <a:rPr lang="en-US" b="1" dirty="0"/>
              <a:t>Skills Demonstrated:-</a:t>
            </a:r>
          </a:p>
          <a:p>
            <a:pPr marL="342900" indent="-342900">
              <a:buFont typeface="+mj-lt"/>
              <a:buAutoNum type="arabicPeriod"/>
            </a:pPr>
            <a:r>
              <a:rPr lang="en-US" dirty="0"/>
              <a:t>SQL</a:t>
            </a:r>
          </a:p>
          <a:p>
            <a:pPr marL="342900" indent="-342900">
              <a:buFont typeface="+mj-lt"/>
              <a:buAutoNum type="arabicPeriod"/>
            </a:pPr>
            <a:r>
              <a:rPr lang="en-US" dirty="0"/>
              <a:t>Python</a:t>
            </a:r>
          </a:p>
          <a:p>
            <a:pPr marL="342900" indent="-342900">
              <a:buFont typeface="+mj-lt"/>
              <a:buAutoNum type="arabicPeriod"/>
            </a:pPr>
            <a:r>
              <a:rPr lang="en-US" dirty="0"/>
              <a:t>Pandas</a:t>
            </a:r>
          </a:p>
          <a:p>
            <a:pPr marL="342900" indent="-342900">
              <a:buFont typeface="+mj-lt"/>
              <a:buAutoNum type="arabicPeriod"/>
            </a:pPr>
            <a:r>
              <a:rPr lang="en-US" dirty="0"/>
              <a:t>EDA</a:t>
            </a:r>
          </a:p>
          <a:p>
            <a:pPr marL="342900" indent="-342900">
              <a:buFont typeface="+mj-lt"/>
              <a:buAutoNum type="arabicPeriod"/>
            </a:pPr>
            <a:r>
              <a:rPr lang="en-US" dirty="0"/>
              <a:t>Statistics</a:t>
            </a:r>
          </a:p>
          <a:p>
            <a:pPr marL="342900" indent="-342900">
              <a:buFont typeface="+mj-lt"/>
              <a:buAutoNum type="arabicPeriod"/>
            </a:pPr>
            <a:r>
              <a:rPr lang="en-US" dirty="0"/>
              <a:t>Power BI</a:t>
            </a:r>
          </a:p>
        </p:txBody>
      </p:sp>
      <p:sp>
        <p:nvSpPr>
          <p:cNvPr id="4" name="Rectangle 3">
            <a:extLst>
              <a:ext uri="{FF2B5EF4-FFF2-40B4-BE49-F238E27FC236}">
                <a16:creationId xmlns:a16="http://schemas.microsoft.com/office/drawing/2014/main" id="{543280E8-55CE-4798-AA1F-09813460C238}"/>
              </a:ext>
            </a:extLst>
          </p:cNvPr>
          <p:cNvSpPr/>
          <p:nvPr/>
        </p:nvSpPr>
        <p:spPr>
          <a:xfrm>
            <a:off x="1712259" y="1272988"/>
            <a:ext cx="7234517" cy="16046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6BE87F6-4742-4235-922C-73A3B51645BD}"/>
              </a:ext>
            </a:extLst>
          </p:cNvPr>
          <p:cNvSpPr/>
          <p:nvPr/>
        </p:nvSpPr>
        <p:spPr>
          <a:xfrm>
            <a:off x="1712259" y="3429000"/>
            <a:ext cx="7234517" cy="16046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20990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B8AD01-A77A-4ADE-BA97-245FD48694ED}"/>
              </a:ext>
            </a:extLst>
          </p:cNvPr>
          <p:cNvSpPr txBox="1"/>
          <p:nvPr/>
        </p:nvSpPr>
        <p:spPr>
          <a:xfrm>
            <a:off x="1730188" y="198654"/>
            <a:ext cx="8964706" cy="4801314"/>
          </a:xfrm>
          <a:prstGeom prst="rect">
            <a:avLst/>
          </a:prstGeom>
          <a:noFill/>
        </p:spPr>
        <p:txBody>
          <a:bodyPr wrap="square">
            <a:spAutoFit/>
          </a:bodyPr>
          <a:lstStyle/>
          <a:p>
            <a:r>
              <a:rPr lang="en-US" b="1" dirty="0"/>
              <a:t>Final Takeaway:-</a:t>
            </a:r>
          </a:p>
          <a:p>
            <a:r>
              <a:rPr lang="en-US" dirty="0"/>
              <a:t>This project demonstrates an end-to-end data analytics workflow:</a:t>
            </a:r>
          </a:p>
          <a:p>
            <a:pPr>
              <a:buFont typeface="Arial" panose="020B0604020202020204" pitchFamily="34" charset="0"/>
              <a:buChar char="•"/>
            </a:pPr>
            <a:r>
              <a:rPr lang="en-US" dirty="0"/>
              <a:t>Cleaned and prepared raw sales data.</a:t>
            </a:r>
          </a:p>
          <a:p>
            <a:pPr>
              <a:buFont typeface="Arial" panose="020B0604020202020204" pitchFamily="34" charset="0"/>
              <a:buChar char="•"/>
            </a:pPr>
            <a:r>
              <a:rPr lang="en-US" dirty="0"/>
              <a:t>Analyzed trends and KPIs using SQL and Python.</a:t>
            </a:r>
          </a:p>
          <a:p>
            <a:pPr>
              <a:buFont typeface="Arial" panose="020B0604020202020204" pitchFamily="34" charset="0"/>
              <a:buChar char="•"/>
            </a:pPr>
            <a:r>
              <a:rPr lang="en-US" dirty="0"/>
              <a:t>Validated business assumptions through hypothesis testing.</a:t>
            </a:r>
          </a:p>
          <a:p>
            <a:pPr>
              <a:buFont typeface="Arial" panose="020B0604020202020204" pitchFamily="34" charset="0"/>
              <a:buChar char="•"/>
            </a:pPr>
            <a:r>
              <a:rPr lang="en-US" dirty="0"/>
              <a:t>Built an interactive Power BI dashboard for decision-making.</a:t>
            </a:r>
          </a:p>
          <a:p>
            <a:pPr>
              <a:buFont typeface="Arial" panose="020B0604020202020204" pitchFamily="34" charset="0"/>
              <a:buChar char="•"/>
            </a:pPr>
            <a:r>
              <a:rPr lang="en-US" dirty="0"/>
              <a:t>Delivered actionable recommendations to improve business performance.</a:t>
            </a:r>
          </a:p>
          <a:p>
            <a:endParaRPr lang="en-US" b="1" dirty="0"/>
          </a:p>
          <a:p>
            <a:endParaRPr lang="en-US" b="1" dirty="0"/>
          </a:p>
          <a:p>
            <a:r>
              <a:rPr lang="en-US" b="1" dirty="0"/>
              <a:t>Key Message:</a:t>
            </a:r>
          </a:p>
          <a:p>
            <a:r>
              <a:rPr lang="en-US" dirty="0"/>
              <a:t>Turning raw data into meaningful insights that support smarter business decisions.</a:t>
            </a:r>
          </a:p>
          <a:p>
            <a:endParaRPr lang="en-US" dirty="0"/>
          </a:p>
          <a:p>
            <a:endParaRPr lang="en-US" dirty="0"/>
          </a:p>
          <a:p>
            <a:r>
              <a:rPr lang="en-US" b="1" dirty="0"/>
              <a:t>Connect With Me:-</a:t>
            </a:r>
          </a:p>
          <a:p>
            <a:r>
              <a:rPr lang="en-US" dirty="0"/>
              <a:t>GitHub:-https://github.com/NIkhildutt7674</a:t>
            </a:r>
          </a:p>
          <a:p>
            <a:r>
              <a:rPr lang="en-US" dirty="0"/>
              <a:t>LinkedIn:-https://www.linkedin.com/in/nikhil-dutt-anuchuri-2b2205393/Email:-anikhildutt@gmail.com</a:t>
            </a:r>
          </a:p>
        </p:txBody>
      </p:sp>
    </p:spTree>
    <p:extLst>
      <p:ext uri="{BB962C8B-B14F-4D97-AF65-F5344CB8AC3E}">
        <p14:creationId xmlns:p14="http://schemas.microsoft.com/office/powerpoint/2010/main" val="2993246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DE9963-E022-41A6-B6DF-E7F7F874C143}"/>
              </a:ext>
            </a:extLst>
          </p:cNvPr>
          <p:cNvSpPr txBox="1"/>
          <p:nvPr/>
        </p:nvSpPr>
        <p:spPr>
          <a:xfrm>
            <a:off x="2528047" y="2117450"/>
            <a:ext cx="8032377" cy="1846659"/>
          </a:xfrm>
          <a:prstGeom prst="rect">
            <a:avLst/>
          </a:prstGeom>
          <a:noFill/>
        </p:spPr>
        <p:txBody>
          <a:bodyPr wrap="square" rtlCol="0">
            <a:spAutoFit/>
          </a:bodyPr>
          <a:lstStyle/>
          <a:p>
            <a:r>
              <a:rPr lang="en-IN" sz="9600" dirty="0"/>
              <a:t>Thank You</a:t>
            </a:r>
          </a:p>
          <a:p>
            <a:r>
              <a:rPr lang="en-IN" dirty="0"/>
              <a:t>Questions &amp; Feedback are Welcome</a:t>
            </a:r>
          </a:p>
        </p:txBody>
      </p:sp>
    </p:spTree>
    <p:extLst>
      <p:ext uri="{BB962C8B-B14F-4D97-AF65-F5344CB8AC3E}">
        <p14:creationId xmlns:p14="http://schemas.microsoft.com/office/powerpoint/2010/main" val="41862925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Ion Boardroom</Template>
  <TotalTime>537</TotalTime>
  <Words>1571</Words>
  <Application>Microsoft Office PowerPoint</Application>
  <PresentationFormat>Widescreen</PresentationFormat>
  <Paragraphs>261</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Corbel</vt:lpstr>
      <vt:lpstr>Parallax</vt:lpstr>
      <vt:lpstr>Sales Performance Analytics</vt:lpstr>
      <vt:lpstr>Business Problem</vt:lpstr>
      <vt:lpstr>Dataset type:-</vt:lpstr>
      <vt:lpstr>Data Cleaning &amp;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Performance Analytics</dc:title>
  <dc:creator>Anikhildutt1808@outlook.com</dc:creator>
  <cp:lastModifiedBy>Anikhildutt1808@outlook.com</cp:lastModifiedBy>
  <cp:revision>33</cp:revision>
  <dcterms:created xsi:type="dcterms:W3CDTF">2026-07-10T01:36:06Z</dcterms:created>
  <dcterms:modified xsi:type="dcterms:W3CDTF">2026-07-12T08:28:42Z</dcterms:modified>
</cp:coreProperties>
</file>